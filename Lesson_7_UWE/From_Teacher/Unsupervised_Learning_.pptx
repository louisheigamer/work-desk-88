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91"/>
  </p:notesMasterIdLst>
  <p:sldIdLst>
    <p:sldId id="256" r:id="rId3"/>
    <p:sldId id="280" r:id="rId4"/>
    <p:sldId id="281" r:id="rId5"/>
    <p:sldId id="322" r:id="rId6"/>
    <p:sldId id="284" r:id="rId7"/>
    <p:sldId id="298" r:id="rId8"/>
    <p:sldId id="299" r:id="rId9"/>
    <p:sldId id="300" r:id="rId10"/>
    <p:sldId id="301" r:id="rId11"/>
    <p:sldId id="318" r:id="rId12"/>
    <p:sldId id="302" r:id="rId13"/>
    <p:sldId id="319" r:id="rId14"/>
    <p:sldId id="303" r:id="rId15"/>
    <p:sldId id="304" r:id="rId16"/>
    <p:sldId id="320"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21" r:id="rId30"/>
    <p:sldId id="257" r:id="rId31"/>
    <p:sldId id="258" r:id="rId32"/>
    <p:sldId id="323" r:id="rId33"/>
    <p:sldId id="259" r:id="rId34"/>
    <p:sldId id="282" r:id="rId35"/>
    <p:sldId id="260" r:id="rId36"/>
    <p:sldId id="326" r:id="rId37"/>
    <p:sldId id="327" r:id="rId38"/>
    <p:sldId id="262" r:id="rId39"/>
    <p:sldId id="328" r:id="rId40"/>
    <p:sldId id="329" r:id="rId41"/>
    <p:sldId id="330" r:id="rId42"/>
    <p:sldId id="331" r:id="rId43"/>
    <p:sldId id="332" r:id="rId44"/>
    <p:sldId id="333" r:id="rId45"/>
    <p:sldId id="334" r:id="rId46"/>
    <p:sldId id="335" r:id="rId47"/>
    <p:sldId id="336" r:id="rId48"/>
    <p:sldId id="279" r:id="rId49"/>
    <p:sldId id="263" r:id="rId50"/>
    <p:sldId id="325" r:id="rId51"/>
    <p:sldId id="264" r:id="rId52"/>
    <p:sldId id="265" r:id="rId53"/>
    <p:sldId id="285" r:id="rId54"/>
    <p:sldId id="286" r:id="rId55"/>
    <p:sldId id="287" r:id="rId56"/>
    <p:sldId id="288" r:id="rId57"/>
    <p:sldId id="289" r:id="rId58"/>
    <p:sldId id="290" r:id="rId59"/>
    <p:sldId id="291" r:id="rId60"/>
    <p:sldId id="292" r:id="rId61"/>
    <p:sldId id="293" r:id="rId62"/>
    <p:sldId id="294" r:id="rId63"/>
    <p:sldId id="295" r:id="rId64"/>
    <p:sldId id="296" r:id="rId65"/>
    <p:sldId id="297" r:id="rId66"/>
    <p:sldId id="266" r:id="rId67"/>
    <p:sldId id="267" r:id="rId68"/>
    <p:sldId id="268" r:id="rId69"/>
    <p:sldId id="269" r:id="rId70"/>
    <p:sldId id="270" r:id="rId71"/>
    <p:sldId id="271" r:id="rId72"/>
    <p:sldId id="272" r:id="rId73"/>
    <p:sldId id="273" r:id="rId74"/>
    <p:sldId id="274" r:id="rId75"/>
    <p:sldId id="275" r:id="rId76"/>
    <p:sldId id="337" r:id="rId77"/>
    <p:sldId id="338" r:id="rId78"/>
    <p:sldId id="339" r:id="rId79"/>
    <p:sldId id="340" r:id="rId80"/>
    <p:sldId id="341" r:id="rId81"/>
    <p:sldId id="261" r:id="rId82"/>
    <p:sldId id="342" r:id="rId83"/>
    <p:sldId id="343" r:id="rId84"/>
    <p:sldId id="344" r:id="rId85"/>
    <p:sldId id="346" r:id="rId86"/>
    <p:sldId id="276" r:id="rId87"/>
    <p:sldId id="277" r:id="rId88"/>
    <p:sldId id="278" r:id="rId89"/>
    <p:sldId id="347" r:id="rId9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C21"/>
    <a:srgbClr val="2A78D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088" autoAdjust="0"/>
  </p:normalViewPr>
  <p:slideViewPr>
    <p:cSldViewPr snapToGrid="0" snapToObjects="1">
      <p:cViewPr varScale="1">
        <p:scale>
          <a:sx n="55" d="100"/>
          <a:sy n="55" d="100"/>
        </p:scale>
        <p:origin x="1072"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5189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171450" indent="-171450">
              <a:buFontTx/>
              <a:buChar char="-"/>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2145179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2940961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891593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3593870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429800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15009982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494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D1C21"/>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D1C21"/>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025086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D1C21"/>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D1C21"/>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38968794"/>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bcg.com/publications/2026/ai-will-reshape-more-jobs-than-it-replaces"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4.xml"/><Relationship Id="rId1" Type="http://schemas.openxmlformats.org/officeDocument/2006/relationships/slideLayout" Target="../slideLayouts/slideLayout13.xml"/><Relationship Id="rId4" Type="http://schemas.openxmlformats.org/officeDocument/2006/relationships/image" Target="../media/image78.png"/></Relationships>
</file>

<file path=ppt/slides/_rels/slide8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1.png"/>
          <p:cNvPicPr>
            <a:picLocks noChangeAspect="1"/>
          </p:cNvPicPr>
          <p:nvPr/>
        </p:nvPicPr>
        <p:blipFill>
          <a:blip r:embed="rId3"/>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DE6FEEBE-9D87-70C3-D48E-D0C0CEBEEAB5}"/>
              </a:ext>
            </a:extLst>
          </p:cNvPr>
          <p:cNvSpPr/>
          <p:nvPr/>
        </p:nvSpPr>
        <p:spPr>
          <a:xfrm>
            <a:off x="735291" y="5656082"/>
            <a:ext cx="6570482" cy="424207"/>
          </a:xfrm>
          <a:prstGeom prst="rect">
            <a:avLst/>
          </a:prstGeom>
          <a:solidFill>
            <a:srgbClr val="1D1C21"/>
          </a:solidFill>
          <a:ln>
            <a:solidFill>
              <a:srgbClr val="1D1C21"/>
            </a:solidFill>
          </a:ln>
        </p:spPr>
        <p:style>
          <a:lnRef idx="1">
            <a:schemeClr val="accent1"/>
          </a:lnRef>
          <a:fillRef idx="1001">
            <a:schemeClr val="dk2"/>
          </a:fillRef>
          <a:effectRef idx="2">
            <a:schemeClr val="accent1"/>
          </a:effectRef>
          <a:fontRef idx="minor">
            <a:schemeClr val="lt1"/>
          </a:fontRef>
        </p:style>
        <p:txBody>
          <a:bodyPr rtlCol="0" anchor="ctr"/>
          <a:lstStyle/>
          <a:p>
            <a:endParaRPr lang="en-GB" dirty="0"/>
          </a:p>
        </p:txBody>
      </p:sp>
      <p:sp>
        <p:nvSpPr>
          <p:cNvPr id="4" name="Rectangle 3">
            <a:extLst>
              <a:ext uri="{FF2B5EF4-FFF2-40B4-BE49-F238E27FC236}">
                <a16:creationId xmlns:a16="http://schemas.microsoft.com/office/drawing/2014/main" id="{F4127971-5DBC-6483-AF34-A4734DC85DC4}"/>
              </a:ext>
            </a:extLst>
          </p:cNvPr>
          <p:cNvSpPr/>
          <p:nvPr/>
        </p:nvSpPr>
        <p:spPr>
          <a:xfrm>
            <a:off x="735291" y="4138367"/>
            <a:ext cx="9341963" cy="2526384"/>
          </a:xfrm>
          <a:prstGeom prst="rect">
            <a:avLst/>
          </a:prstGeom>
          <a:solidFill>
            <a:srgbClr val="1D1C21"/>
          </a:solidFill>
          <a:ln>
            <a:solidFill>
              <a:srgbClr val="1D1C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AB22BE27-4AA6-D43C-30D5-2C3110C83A0E}"/>
              </a:ext>
            </a:extLst>
          </p:cNvPr>
          <p:cNvSpPr txBox="1"/>
          <p:nvPr/>
        </p:nvSpPr>
        <p:spPr>
          <a:xfrm>
            <a:off x="735291" y="4699295"/>
            <a:ext cx="8154185" cy="523220"/>
          </a:xfrm>
          <a:prstGeom prst="rect">
            <a:avLst/>
          </a:prstGeom>
          <a:noFill/>
        </p:spPr>
        <p:txBody>
          <a:bodyPr wrap="square" rtlCol="0">
            <a:spAutoFit/>
          </a:bodyPr>
          <a:lstStyle/>
          <a:p>
            <a:r>
              <a:rPr lang="en-GB" sz="2800" b="1" dirty="0">
                <a:solidFill>
                  <a:srgbClr val="FFFF00"/>
                </a:solidFill>
              </a:rPr>
              <a:t>With a recap into regression errors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A891D9-940F-007E-7A10-FB6C8EE31254}"/>
              </a:ext>
            </a:extLst>
          </p:cNvPr>
          <p:cNvPicPr>
            <a:picLocks noChangeAspect="1"/>
          </p:cNvPicPr>
          <p:nvPr/>
        </p:nvPicPr>
        <p:blipFill>
          <a:blip r:embed="rId2"/>
          <a:stretch>
            <a:fillRect/>
          </a:stretch>
        </p:blipFill>
        <p:spPr>
          <a:xfrm>
            <a:off x="466602" y="1182052"/>
            <a:ext cx="11258796" cy="4822822"/>
          </a:xfrm>
          <a:prstGeom prst="rect">
            <a:avLst/>
          </a:prstGeom>
        </p:spPr>
      </p:pic>
    </p:spTree>
    <p:extLst>
      <p:ext uri="{BB962C8B-B14F-4D97-AF65-F5344CB8AC3E}">
        <p14:creationId xmlns:p14="http://schemas.microsoft.com/office/powerpoint/2010/main" val="1285089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7E815A-533D-A727-37EF-D45801359D99}"/>
              </a:ext>
            </a:extLst>
          </p:cNvPr>
          <p:cNvPicPr>
            <a:picLocks noChangeAspect="1"/>
          </p:cNvPicPr>
          <p:nvPr/>
        </p:nvPicPr>
        <p:blipFill>
          <a:blip r:embed="rId2"/>
          <a:stretch>
            <a:fillRect/>
          </a:stretch>
        </p:blipFill>
        <p:spPr>
          <a:xfrm>
            <a:off x="1186030" y="411716"/>
            <a:ext cx="9574843" cy="5902592"/>
          </a:xfrm>
          <a:prstGeom prst="rect">
            <a:avLst/>
          </a:prstGeom>
        </p:spPr>
      </p:pic>
      <p:sp>
        <p:nvSpPr>
          <p:cNvPr id="5" name="TextBox 4">
            <a:extLst>
              <a:ext uri="{FF2B5EF4-FFF2-40B4-BE49-F238E27FC236}">
                <a16:creationId xmlns:a16="http://schemas.microsoft.com/office/drawing/2014/main" id="{FBC30291-08A5-FA50-F67A-561BF09EE22A}"/>
              </a:ext>
            </a:extLst>
          </p:cNvPr>
          <p:cNvSpPr txBox="1"/>
          <p:nvPr/>
        </p:nvSpPr>
        <p:spPr>
          <a:xfrm>
            <a:off x="3179191" y="6446284"/>
            <a:ext cx="6094428" cy="369332"/>
          </a:xfrm>
          <a:prstGeom prst="rect">
            <a:avLst/>
          </a:prstGeom>
          <a:noFill/>
        </p:spPr>
        <p:txBody>
          <a:bodyPr wrap="square">
            <a:spAutoFit/>
          </a:bodyPr>
          <a:lstStyle/>
          <a:p>
            <a:r>
              <a:rPr lang="en-GB" dirty="0">
                <a:hlinkClick r:id="rId3"/>
              </a:rPr>
              <a:t>AI Will Reshape More Jobs Than It Replaces | BCG</a:t>
            </a:r>
            <a:endParaRPr lang="en-GB" dirty="0"/>
          </a:p>
        </p:txBody>
      </p:sp>
    </p:spTree>
    <p:extLst>
      <p:ext uri="{BB962C8B-B14F-4D97-AF65-F5344CB8AC3E}">
        <p14:creationId xmlns:p14="http://schemas.microsoft.com/office/powerpoint/2010/main" val="1140033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76BD84-5DFD-8E97-5948-9CA2DD68CD42}"/>
              </a:ext>
            </a:extLst>
          </p:cNvPr>
          <p:cNvPicPr>
            <a:picLocks noChangeAspect="1"/>
          </p:cNvPicPr>
          <p:nvPr/>
        </p:nvPicPr>
        <p:blipFill>
          <a:blip r:embed="rId2"/>
          <a:stretch>
            <a:fillRect/>
          </a:stretch>
        </p:blipFill>
        <p:spPr>
          <a:xfrm>
            <a:off x="781587" y="741807"/>
            <a:ext cx="7555688" cy="5762688"/>
          </a:xfrm>
          <a:prstGeom prst="rect">
            <a:avLst/>
          </a:prstGeom>
        </p:spPr>
      </p:pic>
      <p:sp>
        <p:nvSpPr>
          <p:cNvPr id="5" name="TextBox 4">
            <a:extLst>
              <a:ext uri="{FF2B5EF4-FFF2-40B4-BE49-F238E27FC236}">
                <a16:creationId xmlns:a16="http://schemas.microsoft.com/office/drawing/2014/main" id="{BCB10A8A-9B3E-F719-4334-B18B3B240463}"/>
              </a:ext>
            </a:extLst>
          </p:cNvPr>
          <p:cNvSpPr txBox="1"/>
          <p:nvPr/>
        </p:nvSpPr>
        <p:spPr>
          <a:xfrm>
            <a:off x="8245364" y="1305341"/>
            <a:ext cx="3462727" cy="4801314"/>
          </a:xfrm>
          <a:prstGeom prst="rect">
            <a:avLst/>
          </a:prstGeom>
          <a:noFill/>
        </p:spPr>
        <p:txBody>
          <a:bodyPr wrap="square">
            <a:spAutoFit/>
          </a:bodyPr>
          <a:lstStyle/>
          <a:p>
            <a:pPr marL="0" marR="0" indent="0" algn="l" fontAlgn="base">
              <a:lnSpc>
                <a:spcPct val="100000"/>
              </a:lnSpc>
              <a:buNone/>
            </a:pPr>
            <a:r>
              <a:rPr lang="en-GB" sz="1800" b="0" i="0" u="none" strike="noStrike" spc="-27" dirty="0">
                <a:solidFill>
                  <a:schemeClr val="tx1"/>
                </a:solidFill>
                <a:effectLst/>
                <a:latin typeface="+mn-lt"/>
              </a:rPr>
              <a:t>"Our investigation confirmed that these individuals mishandled sensitive information outside established company procedures, violating our policies and breaking the trust essential to our work," a spokesperson told the BBC.</a:t>
            </a:r>
          </a:p>
          <a:p>
            <a:pPr marL="0" marR="0" indent="0" algn="l" fontAlgn="base">
              <a:lnSpc>
                <a:spcPct val="100000"/>
              </a:lnSpc>
              <a:buNone/>
            </a:pPr>
            <a:endParaRPr lang="en-GB" sz="1800" b="0" i="0" u="none" strike="noStrike" spc="-27" dirty="0">
              <a:solidFill>
                <a:schemeClr val="tx1"/>
              </a:solidFill>
              <a:effectLst/>
              <a:latin typeface="+mn-lt"/>
            </a:endParaRPr>
          </a:p>
          <a:p>
            <a:pPr marL="0" marR="0" indent="0" algn="l" fontAlgn="base">
              <a:lnSpc>
                <a:spcPct val="100000"/>
              </a:lnSpc>
              <a:buNone/>
            </a:pPr>
            <a:r>
              <a:rPr lang="en-GB" sz="1800" b="0" i="0" u="none" strike="noStrike" spc="-27" dirty="0">
                <a:solidFill>
                  <a:schemeClr val="tx1"/>
                </a:solidFill>
                <a:effectLst/>
                <a:latin typeface="+mn-lt"/>
              </a:rPr>
              <a:t>The ChatGPT-maker did not name the sacked workers, but at least two of them were involved in safety research at the firm.</a:t>
            </a:r>
            <a:br>
              <a:rPr lang="en-GB" sz="1800" b="0" i="0" u="none" strike="noStrike" spc="-27" dirty="0">
                <a:solidFill>
                  <a:schemeClr val="tx1"/>
                </a:solidFill>
                <a:effectLst/>
                <a:latin typeface="+mn-lt"/>
              </a:rPr>
            </a:br>
            <a:br>
              <a:rPr lang="en-GB" sz="1800" b="0" i="0" u="none" strike="noStrike" spc="-27" dirty="0">
                <a:solidFill>
                  <a:schemeClr val="tx1"/>
                </a:solidFill>
                <a:effectLst/>
                <a:latin typeface="+mn-lt"/>
              </a:rPr>
            </a:br>
            <a:r>
              <a:rPr lang="en-GB" sz="2400" b="0" i="0" u="none" strike="noStrike" spc="-27" dirty="0">
                <a:solidFill>
                  <a:srgbClr val="FF0000"/>
                </a:solidFill>
                <a:effectLst/>
                <a:latin typeface="+mn-lt"/>
              </a:rPr>
              <a:t>Be mindful of what you input into these large language models!</a:t>
            </a:r>
            <a:endParaRPr lang="en-GB" sz="1800" b="0" i="0" u="none" strike="noStrike" spc="-27" dirty="0">
              <a:solidFill>
                <a:srgbClr val="FF0000"/>
              </a:solidFill>
              <a:effectLst/>
              <a:latin typeface="+mn-lt"/>
            </a:endParaRPr>
          </a:p>
        </p:txBody>
      </p:sp>
    </p:spTree>
    <p:extLst>
      <p:ext uri="{BB962C8B-B14F-4D97-AF65-F5344CB8AC3E}">
        <p14:creationId xmlns:p14="http://schemas.microsoft.com/office/powerpoint/2010/main" val="1163678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B269D-967F-C5B7-9DC9-DB140CF13B4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682372-B107-0DCB-E28B-80E0A897545C}"/>
              </a:ext>
            </a:extLst>
          </p:cNvPr>
          <p:cNvPicPr>
            <a:picLocks noChangeAspect="1"/>
          </p:cNvPicPr>
          <p:nvPr/>
        </p:nvPicPr>
        <p:blipFill>
          <a:blip r:embed="rId2"/>
          <a:stretch>
            <a:fillRect/>
          </a:stretch>
        </p:blipFill>
        <p:spPr>
          <a:xfrm>
            <a:off x="4609590" y="1207730"/>
            <a:ext cx="2628492" cy="5484449"/>
          </a:xfrm>
          <a:prstGeom prst="rect">
            <a:avLst/>
          </a:prstGeom>
        </p:spPr>
      </p:pic>
      <p:pic>
        <p:nvPicPr>
          <p:cNvPr id="8" name="Picture 7">
            <a:extLst>
              <a:ext uri="{FF2B5EF4-FFF2-40B4-BE49-F238E27FC236}">
                <a16:creationId xmlns:a16="http://schemas.microsoft.com/office/drawing/2014/main" id="{DC35A102-C0BE-CED0-2DE2-3D572AE3D830}"/>
              </a:ext>
            </a:extLst>
          </p:cNvPr>
          <p:cNvPicPr>
            <a:picLocks noChangeAspect="1"/>
          </p:cNvPicPr>
          <p:nvPr/>
        </p:nvPicPr>
        <p:blipFill>
          <a:blip r:embed="rId3"/>
          <a:stretch>
            <a:fillRect/>
          </a:stretch>
        </p:blipFill>
        <p:spPr>
          <a:xfrm>
            <a:off x="1102615" y="1207731"/>
            <a:ext cx="2636592" cy="5484449"/>
          </a:xfrm>
          <a:prstGeom prst="rect">
            <a:avLst/>
          </a:prstGeom>
        </p:spPr>
      </p:pic>
      <p:pic>
        <p:nvPicPr>
          <p:cNvPr id="10" name="Picture 9">
            <a:extLst>
              <a:ext uri="{FF2B5EF4-FFF2-40B4-BE49-F238E27FC236}">
                <a16:creationId xmlns:a16="http://schemas.microsoft.com/office/drawing/2014/main" id="{A8205D89-3A5D-3B54-E17A-CB5BB5A91ED6}"/>
              </a:ext>
            </a:extLst>
          </p:cNvPr>
          <p:cNvPicPr>
            <a:picLocks noChangeAspect="1"/>
          </p:cNvPicPr>
          <p:nvPr/>
        </p:nvPicPr>
        <p:blipFill>
          <a:blip r:embed="rId4"/>
          <a:stretch>
            <a:fillRect/>
          </a:stretch>
        </p:blipFill>
        <p:spPr>
          <a:xfrm>
            <a:off x="8452793" y="1227092"/>
            <a:ext cx="2636592" cy="5465089"/>
          </a:xfrm>
          <a:prstGeom prst="rect">
            <a:avLst/>
          </a:prstGeom>
        </p:spPr>
      </p:pic>
      <p:sp>
        <p:nvSpPr>
          <p:cNvPr id="11" name="Rectangle 10">
            <a:extLst>
              <a:ext uri="{FF2B5EF4-FFF2-40B4-BE49-F238E27FC236}">
                <a16:creationId xmlns:a16="http://schemas.microsoft.com/office/drawing/2014/main" id="{63923F3D-A65D-6EB0-9C04-0C1228FA2034}"/>
              </a:ext>
            </a:extLst>
          </p:cNvPr>
          <p:cNvSpPr/>
          <p:nvPr/>
        </p:nvSpPr>
        <p:spPr>
          <a:xfrm>
            <a:off x="180933" y="0"/>
            <a:ext cx="8150500" cy="769441"/>
          </a:xfrm>
          <a:prstGeom prst="rect">
            <a:avLst/>
          </a:prstGeom>
          <a:noFill/>
        </p:spPr>
        <p:txBody>
          <a:bodyPr wrap="none" lIns="91440" tIns="45720" rIns="91440" bIns="45720">
            <a:spAutoFit/>
          </a:bodyPr>
          <a:lstStyle/>
          <a:p>
            <a:pPr algn="ctr"/>
            <a:r>
              <a:rPr lang="en-GB" sz="4400" b="1" cap="none" spc="0" dirty="0">
                <a:ln w="22225">
                  <a:solidFill>
                    <a:schemeClr val="accent2"/>
                  </a:solidFill>
                  <a:prstDash val="solid"/>
                </a:ln>
                <a:solidFill>
                  <a:schemeClr val="accent2">
                    <a:lumMod val="40000"/>
                    <a:lumOff val="60000"/>
                  </a:schemeClr>
                </a:solidFill>
                <a:effectLst/>
              </a:rPr>
              <a:t>Please revise the learning models.</a:t>
            </a:r>
          </a:p>
        </p:txBody>
      </p:sp>
      <p:sp>
        <p:nvSpPr>
          <p:cNvPr id="12" name="TextBox 11">
            <a:extLst>
              <a:ext uri="{FF2B5EF4-FFF2-40B4-BE49-F238E27FC236}">
                <a16:creationId xmlns:a16="http://schemas.microsoft.com/office/drawing/2014/main" id="{A3CB0994-337C-87A9-31C9-28BB0E486078}"/>
              </a:ext>
            </a:extLst>
          </p:cNvPr>
          <p:cNvSpPr txBox="1"/>
          <p:nvPr/>
        </p:nvSpPr>
        <p:spPr>
          <a:xfrm>
            <a:off x="180933" y="748523"/>
            <a:ext cx="11038902" cy="369332"/>
          </a:xfrm>
          <a:prstGeom prst="rect">
            <a:avLst/>
          </a:prstGeom>
          <a:noFill/>
        </p:spPr>
        <p:txBody>
          <a:bodyPr wrap="square" rtlCol="0">
            <a:spAutoFit/>
          </a:bodyPr>
          <a:lstStyle/>
          <a:p>
            <a:r>
              <a:rPr lang="en-GB" dirty="0"/>
              <a:t>Go through the notebooks and write what you know about them, increasing every session or week.</a:t>
            </a:r>
          </a:p>
        </p:txBody>
      </p:sp>
    </p:spTree>
    <p:extLst>
      <p:ext uri="{BB962C8B-B14F-4D97-AF65-F5344CB8AC3E}">
        <p14:creationId xmlns:p14="http://schemas.microsoft.com/office/powerpoint/2010/main" val="125174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80">
                                          <p:stCondLst>
                                            <p:cond delay="0"/>
                                          </p:stCondLst>
                                        </p:cTn>
                                        <p:tgtEl>
                                          <p:spTgt spid="10"/>
                                        </p:tgtEl>
                                      </p:cBhvr>
                                    </p:animEffect>
                                    <p:anim calcmode="lin" valueType="num">
                                      <p:cBhvr>
                                        <p:cTn id="2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1" dur="26">
                                          <p:stCondLst>
                                            <p:cond delay="650"/>
                                          </p:stCondLst>
                                        </p:cTn>
                                        <p:tgtEl>
                                          <p:spTgt spid="10"/>
                                        </p:tgtEl>
                                      </p:cBhvr>
                                      <p:to x="100000" y="60000"/>
                                    </p:animScale>
                                    <p:animScale>
                                      <p:cBhvr>
                                        <p:cTn id="32" dur="166" decel="50000">
                                          <p:stCondLst>
                                            <p:cond delay="676"/>
                                          </p:stCondLst>
                                        </p:cTn>
                                        <p:tgtEl>
                                          <p:spTgt spid="10"/>
                                        </p:tgtEl>
                                      </p:cBhvr>
                                      <p:to x="100000" y="100000"/>
                                    </p:animScale>
                                    <p:animScale>
                                      <p:cBhvr>
                                        <p:cTn id="33" dur="26">
                                          <p:stCondLst>
                                            <p:cond delay="1312"/>
                                          </p:stCondLst>
                                        </p:cTn>
                                        <p:tgtEl>
                                          <p:spTgt spid="10"/>
                                        </p:tgtEl>
                                      </p:cBhvr>
                                      <p:to x="100000" y="80000"/>
                                    </p:animScale>
                                    <p:animScale>
                                      <p:cBhvr>
                                        <p:cTn id="34" dur="166" decel="50000">
                                          <p:stCondLst>
                                            <p:cond delay="1338"/>
                                          </p:stCondLst>
                                        </p:cTn>
                                        <p:tgtEl>
                                          <p:spTgt spid="10"/>
                                        </p:tgtEl>
                                      </p:cBhvr>
                                      <p:to x="100000" y="100000"/>
                                    </p:animScale>
                                    <p:animScale>
                                      <p:cBhvr>
                                        <p:cTn id="35" dur="26">
                                          <p:stCondLst>
                                            <p:cond delay="1642"/>
                                          </p:stCondLst>
                                        </p:cTn>
                                        <p:tgtEl>
                                          <p:spTgt spid="10"/>
                                        </p:tgtEl>
                                      </p:cBhvr>
                                      <p:to x="100000" y="90000"/>
                                    </p:animScale>
                                    <p:animScale>
                                      <p:cBhvr>
                                        <p:cTn id="36" dur="166" decel="50000">
                                          <p:stCondLst>
                                            <p:cond delay="1668"/>
                                          </p:stCondLst>
                                        </p:cTn>
                                        <p:tgtEl>
                                          <p:spTgt spid="10"/>
                                        </p:tgtEl>
                                      </p:cBhvr>
                                      <p:to x="100000" y="100000"/>
                                    </p:animScale>
                                    <p:animScale>
                                      <p:cBhvr>
                                        <p:cTn id="37" dur="26">
                                          <p:stCondLst>
                                            <p:cond delay="1808"/>
                                          </p:stCondLst>
                                        </p:cTn>
                                        <p:tgtEl>
                                          <p:spTgt spid="10"/>
                                        </p:tgtEl>
                                      </p:cBhvr>
                                      <p:to x="100000" y="95000"/>
                                    </p:animScale>
                                    <p:animScale>
                                      <p:cBhvr>
                                        <p:cTn id="38"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1.png"/>
          <p:cNvPicPr>
            <a:picLocks noChangeAspect="1"/>
          </p:cNvPicPr>
          <p:nvPr/>
        </p:nvPicPr>
        <p:blipFill>
          <a:blip r:embed="rId3"/>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62451544-1BCE-CA3D-47E2-7C329CFD0B77}"/>
              </a:ext>
            </a:extLst>
          </p:cNvPr>
          <p:cNvSpPr/>
          <p:nvPr/>
        </p:nvSpPr>
        <p:spPr>
          <a:xfrm>
            <a:off x="688157" y="5571241"/>
            <a:ext cx="3864989" cy="735291"/>
          </a:xfrm>
          <a:prstGeom prst="rect">
            <a:avLst/>
          </a:prstGeom>
          <a:solidFill>
            <a:srgbClr val="1D1C21"/>
          </a:solidFill>
          <a:ln>
            <a:solidFill>
              <a:srgbClr val="1D1C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3.png"/>
          <p:cNvPicPr>
            <a:picLocks noChangeAspect="1"/>
          </p:cNvPicPr>
          <p:nvPr/>
        </p:nvPicPr>
        <p:blipFill>
          <a:blip r:embed="rId3"/>
          <a:stretch>
            <a:fillRect/>
          </a:stretch>
        </p:blipFill>
        <p:spPr>
          <a:xfrm>
            <a:off x="0" y="0"/>
            <a:ext cx="12192000" cy="6858000"/>
          </a:xfrm>
          <a:prstGeom prst="rect">
            <a:avLst/>
          </a:prstGeom>
        </p:spPr>
      </p:pic>
      <p:sp>
        <p:nvSpPr>
          <p:cNvPr id="3" name="Right Brace 2">
            <a:extLst>
              <a:ext uri="{FF2B5EF4-FFF2-40B4-BE49-F238E27FC236}">
                <a16:creationId xmlns:a16="http://schemas.microsoft.com/office/drawing/2014/main" id="{16848F89-58F5-7B3A-3B8C-AB7FA849F30E}"/>
              </a:ext>
            </a:extLst>
          </p:cNvPr>
          <p:cNvSpPr/>
          <p:nvPr/>
        </p:nvSpPr>
        <p:spPr>
          <a:xfrm rot="16200000">
            <a:off x="4501300" y="-51853"/>
            <a:ext cx="339367" cy="2045621"/>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 name="TextBox 3">
            <a:extLst>
              <a:ext uri="{FF2B5EF4-FFF2-40B4-BE49-F238E27FC236}">
                <a16:creationId xmlns:a16="http://schemas.microsoft.com/office/drawing/2014/main" id="{C3208D14-B47F-F7F0-41DB-B9FA3B07617D}"/>
              </a:ext>
            </a:extLst>
          </p:cNvPr>
          <p:cNvSpPr txBox="1"/>
          <p:nvPr/>
        </p:nvSpPr>
        <p:spPr>
          <a:xfrm>
            <a:off x="3450210" y="401482"/>
            <a:ext cx="3026004" cy="369332"/>
          </a:xfrm>
          <a:prstGeom prst="rect">
            <a:avLst/>
          </a:prstGeom>
          <a:noFill/>
        </p:spPr>
        <p:txBody>
          <a:bodyPr wrap="square" rtlCol="0">
            <a:spAutoFit/>
          </a:bodyPr>
          <a:lstStyle/>
          <a:p>
            <a:r>
              <a:rPr lang="en-GB" dirty="0"/>
              <a:t>Please try to remember this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6566E-6CE4-2DC8-EDD4-B43E8A6BA119}"/>
              </a:ext>
            </a:extLst>
          </p:cNvPr>
          <p:cNvSpPr txBox="1"/>
          <p:nvPr/>
        </p:nvSpPr>
        <p:spPr>
          <a:xfrm>
            <a:off x="131975" y="348792"/>
            <a:ext cx="10256363" cy="646331"/>
          </a:xfrm>
          <a:prstGeom prst="rect">
            <a:avLst/>
          </a:prstGeom>
          <a:noFill/>
        </p:spPr>
        <p:txBody>
          <a:bodyPr wrap="square" rtlCol="0">
            <a:spAutoFit/>
          </a:bodyPr>
          <a:lstStyle/>
          <a:p>
            <a:r>
              <a:rPr lang="en-GB" sz="3600" dirty="0"/>
              <a:t>Let’s actually draw a linear regression model together</a:t>
            </a:r>
          </a:p>
        </p:txBody>
      </p:sp>
    </p:spTree>
    <p:extLst>
      <p:ext uri="{BB962C8B-B14F-4D97-AF65-F5344CB8AC3E}">
        <p14:creationId xmlns:p14="http://schemas.microsoft.com/office/powerpoint/2010/main" val="844039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5.png"/>
          <p:cNvPicPr>
            <a:picLocks noChangeAspect="1"/>
          </p:cNvPicPr>
          <p:nvPr/>
        </p:nvPicPr>
        <p:blipFill>
          <a:blip r:embed="rId3"/>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EC5A42C3-8DDF-6971-5488-A44BCBBCC5F8}"/>
              </a:ext>
            </a:extLst>
          </p:cNvPr>
          <p:cNvSpPr txBox="1"/>
          <p:nvPr/>
        </p:nvSpPr>
        <p:spPr>
          <a:xfrm>
            <a:off x="6513922" y="5665509"/>
            <a:ext cx="4487158" cy="369332"/>
          </a:xfrm>
          <a:prstGeom prst="rect">
            <a:avLst/>
          </a:prstGeom>
          <a:noFill/>
        </p:spPr>
        <p:txBody>
          <a:bodyPr wrap="square" rtlCol="0">
            <a:spAutoFit/>
          </a:bodyPr>
          <a:lstStyle/>
          <a:p>
            <a:r>
              <a:rPr lang="en-GB" dirty="0" err="1"/>
              <a:t>slopes_and_intercepts.ipynb</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D477A6D-568F-EF33-5B81-C6BA49F24D51}"/>
              </a:ext>
            </a:extLst>
          </p:cNvPr>
          <p:cNvGraphicFramePr>
            <a:graphicFrameLocks noGrp="1"/>
          </p:cNvGraphicFramePr>
          <p:nvPr>
            <p:extLst>
              <p:ext uri="{D42A27DB-BD31-4B8C-83A1-F6EECF244321}">
                <p14:modId xmlns:p14="http://schemas.microsoft.com/office/powerpoint/2010/main" val="3487346834"/>
              </p:ext>
            </p:extLst>
          </p:nvPr>
        </p:nvGraphicFramePr>
        <p:xfrm>
          <a:off x="490194" y="254524"/>
          <a:ext cx="11566689" cy="6281040"/>
        </p:xfrm>
        <a:graphic>
          <a:graphicData uri="http://schemas.openxmlformats.org/drawingml/2006/table">
            <a:tbl>
              <a:tblPr>
                <a:tableStyleId>{5C22544A-7EE6-4342-B048-85BDC9FD1C3A}</a:tableStyleId>
              </a:tblPr>
              <a:tblGrid>
                <a:gridCol w="3855563">
                  <a:extLst>
                    <a:ext uri="{9D8B030D-6E8A-4147-A177-3AD203B41FA5}">
                      <a16:colId xmlns:a16="http://schemas.microsoft.com/office/drawing/2014/main" val="988104493"/>
                    </a:ext>
                  </a:extLst>
                </a:gridCol>
                <a:gridCol w="3855563">
                  <a:extLst>
                    <a:ext uri="{9D8B030D-6E8A-4147-A177-3AD203B41FA5}">
                      <a16:colId xmlns:a16="http://schemas.microsoft.com/office/drawing/2014/main" val="1734924200"/>
                    </a:ext>
                  </a:extLst>
                </a:gridCol>
                <a:gridCol w="3855563">
                  <a:extLst>
                    <a:ext uri="{9D8B030D-6E8A-4147-A177-3AD203B41FA5}">
                      <a16:colId xmlns:a16="http://schemas.microsoft.com/office/drawing/2014/main" val="3039879560"/>
                    </a:ext>
                  </a:extLst>
                </a:gridCol>
              </a:tblGrid>
              <a:tr h="450052">
                <a:tc>
                  <a:txBody>
                    <a:bodyPr/>
                    <a:lstStyle/>
                    <a:p>
                      <a:pPr algn="ctr">
                        <a:buNone/>
                      </a:pPr>
                      <a:r>
                        <a:rPr lang="en-GB" sz="1400" b="1"/>
                        <a:t>Area</a:t>
                      </a:r>
                    </a:p>
                  </a:txBody>
                  <a:tcPr marL="27597" marR="27597" marT="13799" marB="13799" anchor="ctr"/>
                </a:tc>
                <a:tc>
                  <a:txBody>
                    <a:bodyPr/>
                    <a:lstStyle/>
                    <a:p>
                      <a:pPr algn="ctr">
                        <a:buNone/>
                      </a:pPr>
                      <a:r>
                        <a:rPr lang="en-GB" sz="1400" b="1"/>
                        <a:t>Possible inputs (x)</a:t>
                      </a:r>
                    </a:p>
                  </a:txBody>
                  <a:tcPr marL="27597" marR="27597" marT="13799" marB="13799" anchor="ctr"/>
                </a:tc>
                <a:tc>
                  <a:txBody>
                    <a:bodyPr/>
                    <a:lstStyle/>
                    <a:p>
                      <a:pPr algn="ctr">
                        <a:buNone/>
                      </a:pPr>
                      <a:r>
                        <a:rPr lang="en-GB" sz="1400" b="1" dirty="0"/>
                        <a:t>Output (y)</a:t>
                      </a:r>
                    </a:p>
                  </a:txBody>
                  <a:tcPr marL="27597" marR="27597" marT="13799" marB="13799" anchor="ctr"/>
                </a:tc>
                <a:extLst>
                  <a:ext uri="{0D108BD9-81ED-4DB2-BD59-A6C34878D82A}">
                    <a16:rowId xmlns:a16="http://schemas.microsoft.com/office/drawing/2014/main" val="3956973669"/>
                  </a:ext>
                </a:extLst>
              </a:tr>
              <a:tr h="242347">
                <a:tc>
                  <a:txBody>
                    <a:bodyPr/>
                    <a:lstStyle/>
                    <a:p>
                      <a:pPr algn="ctr">
                        <a:buNone/>
                      </a:pPr>
                      <a:r>
                        <a:rPr lang="en-GB" sz="1400"/>
                        <a:t>Retail</a:t>
                      </a:r>
                    </a:p>
                  </a:txBody>
                  <a:tcPr marL="27597" marR="27597" marT="13799" marB="13799" anchor="ctr"/>
                </a:tc>
                <a:tc>
                  <a:txBody>
                    <a:bodyPr/>
                    <a:lstStyle/>
                    <a:p>
                      <a:pPr algn="ctr">
                        <a:buNone/>
                      </a:pPr>
                      <a:r>
                        <a:rPr lang="en-GB" sz="1400" dirty="0"/>
                        <a:t>Temperature, day of the week, school holidays</a:t>
                      </a:r>
                    </a:p>
                  </a:txBody>
                  <a:tcPr marL="27597" marR="27597" marT="13799" marB="13799" anchor="ctr"/>
                </a:tc>
                <a:tc>
                  <a:txBody>
                    <a:bodyPr/>
                    <a:lstStyle/>
                    <a:p>
                      <a:pPr algn="ctr">
                        <a:buNone/>
                      </a:pPr>
                      <a:r>
                        <a:rPr lang="en-GB" sz="1400"/>
                        <a:t>Number of ice creams sold</a:t>
                      </a:r>
                    </a:p>
                  </a:txBody>
                  <a:tcPr marL="27597" marR="27597" marT="13799" marB="13799" anchor="ctr"/>
                </a:tc>
                <a:extLst>
                  <a:ext uri="{0D108BD9-81ED-4DB2-BD59-A6C34878D82A}">
                    <a16:rowId xmlns:a16="http://schemas.microsoft.com/office/drawing/2014/main" val="1017204194"/>
                  </a:ext>
                </a:extLst>
              </a:tr>
              <a:tr h="452918">
                <a:tc>
                  <a:txBody>
                    <a:bodyPr/>
                    <a:lstStyle/>
                    <a:p>
                      <a:pPr algn="ctr">
                        <a:buNone/>
                      </a:pPr>
                      <a:r>
                        <a:rPr lang="en-GB" sz="1400"/>
                        <a:t>Housing</a:t>
                      </a:r>
                    </a:p>
                  </a:txBody>
                  <a:tcPr marL="27597" marR="27597" marT="13799" marB="13799" anchor="ctr"/>
                </a:tc>
                <a:tc>
                  <a:txBody>
                    <a:bodyPr/>
                    <a:lstStyle/>
                    <a:p>
                      <a:pPr algn="ctr">
                        <a:buNone/>
                      </a:pPr>
                      <a:r>
                        <a:rPr lang="en-GB" sz="1400"/>
                        <a:t>Floor area (m²), number of bedrooms, distance to the city centre</a:t>
                      </a:r>
                    </a:p>
                  </a:txBody>
                  <a:tcPr marL="27597" marR="27597" marT="13799" marB="13799" anchor="ctr"/>
                </a:tc>
                <a:tc>
                  <a:txBody>
                    <a:bodyPr/>
                    <a:lstStyle/>
                    <a:p>
                      <a:pPr algn="ctr">
                        <a:buNone/>
                      </a:pPr>
                      <a:r>
                        <a:rPr lang="en-GB" sz="1400"/>
                        <a:t>House price (£)</a:t>
                      </a:r>
                    </a:p>
                  </a:txBody>
                  <a:tcPr marL="27597" marR="27597" marT="13799" marB="13799" anchor="ctr"/>
                </a:tc>
                <a:extLst>
                  <a:ext uri="{0D108BD9-81ED-4DB2-BD59-A6C34878D82A}">
                    <a16:rowId xmlns:a16="http://schemas.microsoft.com/office/drawing/2014/main" val="2931412088"/>
                  </a:ext>
                </a:extLst>
              </a:tr>
              <a:tr h="317759">
                <a:tc>
                  <a:txBody>
                    <a:bodyPr/>
                    <a:lstStyle/>
                    <a:p>
                      <a:pPr algn="ctr">
                        <a:buNone/>
                      </a:pPr>
                      <a:r>
                        <a:rPr lang="en-GB" sz="1400"/>
                        <a:t>Education</a:t>
                      </a:r>
                    </a:p>
                  </a:txBody>
                  <a:tcPr marL="27597" marR="27597" marT="13799" marB="13799" anchor="ctr"/>
                </a:tc>
                <a:tc>
                  <a:txBody>
                    <a:bodyPr/>
                    <a:lstStyle/>
                    <a:p>
                      <a:pPr algn="ctr">
                        <a:buNone/>
                      </a:pPr>
                      <a:r>
                        <a:rPr lang="en-GB" sz="1400"/>
                        <a:t>Hours of revision, attendance (%), mock exam mark</a:t>
                      </a:r>
                    </a:p>
                  </a:txBody>
                  <a:tcPr marL="27597" marR="27597" marT="13799" marB="13799" anchor="ctr"/>
                </a:tc>
                <a:tc>
                  <a:txBody>
                    <a:bodyPr/>
                    <a:lstStyle/>
                    <a:p>
                      <a:pPr algn="ctr">
                        <a:buNone/>
                      </a:pPr>
                      <a:r>
                        <a:rPr lang="en-GB" sz="1400"/>
                        <a:t>Final exam mark (%)</a:t>
                      </a:r>
                    </a:p>
                  </a:txBody>
                  <a:tcPr marL="27597" marR="27597" marT="13799" marB="13799" anchor="ctr"/>
                </a:tc>
                <a:extLst>
                  <a:ext uri="{0D108BD9-81ED-4DB2-BD59-A6C34878D82A}">
                    <a16:rowId xmlns:a16="http://schemas.microsoft.com/office/drawing/2014/main" val="1481869688"/>
                  </a:ext>
                </a:extLst>
              </a:tr>
              <a:tr h="242347">
                <a:tc>
                  <a:txBody>
                    <a:bodyPr/>
                    <a:lstStyle/>
                    <a:p>
                      <a:pPr algn="ctr">
                        <a:buNone/>
                      </a:pPr>
                      <a:r>
                        <a:rPr lang="en-GB" sz="1400"/>
                        <a:t>Cars</a:t>
                      </a:r>
                    </a:p>
                  </a:txBody>
                  <a:tcPr marL="27597" marR="27597" marT="13799" marB="13799" anchor="ctr"/>
                </a:tc>
                <a:tc>
                  <a:txBody>
                    <a:bodyPr/>
                    <a:lstStyle/>
                    <a:p>
                      <a:pPr algn="ctr">
                        <a:buNone/>
                      </a:pPr>
                      <a:r>
                        <a:rPr lang="en-GB" sz="1400"/>
                        <a:t>Engine size, weight, age of the car</a:t>
                      </a:r>
                    </a:p>
                  </a:txBody>
                  <a:tcPr marL="27597" marR="27597" marT="13799" marB="13799" anchor="ctr"/>
                </a:tc>
                <a:tc>
                  <a:txBody>
                    <a:bodyPr/>
                    <a:lstStyle/>
                    <a:p>
                      <a:pPr algn="ctr">
                        <a:buNone/>
                      </a:pPr>
                      <a:r>
                        <a:rPr lang="en-GB" sz="1400"/>
                        <a:t>Fuel economy (miles per gallon)</a:t>
                      </a:r>
                    </a:p>
                  </a:txBody>
                  <a:tcPr marL="27597" marR="27597" marT="13799" marB="13799" anchor="ctr"/>
                </a:tc>
                <a:extLst>
                  <a:ext uri="{0D108BD9-81ED-4DB2-BD59-A6C34878D82A}">
                    <a16:rowId xmlns:a16="http://schemas.microsoft.com/office/drawing/2014/main" val="794314661"/>
                  </a:ext>
                </a:extLst>
              </a:tr>
              <a:tr h="242347">
                <a:tc>
                  <a:txBody>
                    <a:bodyPr/>
                    <a:lstStyle/>
                    <a:p>
                      <a:pPr algn="ctr">
                        <a:buNone/>
                      </a:pPr>
                      <a:r>
                        <a:rPr lang="en-GB" sz="1400"/>
                        <a:t>Used cars</a:t>
                      </a:r>
                    </a:p>
                  </a:txBody>
                  <a:tcPr marL="27597" marR="27597" marT="13799" marB="13799" anchor="ctr"/>
                </a:tc>
                <a:tc>
                  <a:txBody>
                    <a:bodyPr/>
                    <a:lstStyle/>
                    <a:p>
                      <a:pPr algn="ctr">
                        <a:buNone/>
                      </a:pPr>
                      <a:r>
                        <a:rPr lang="en-GB" sz="1400"/>
                        <a:t>Age, mileage, engine size</a:t>
                      </a:r>
                    </a:p>
                  </a:txBody>
                  <a:tcPr marL="27597" marR="27597" marT="13799" marB="13799" anchor="ctr"/>
                </a:tc>
                <a:tc>
                  <a:txBody>
                    <a:bodyPr/>
                    <a:lstStyle/>
                    <a:p>
                      <a:pPr algn="ctr">
                        <a:buNone/>
                      </a:pPr>
                      <a:r>
                        <a:rPr lang="en-GB" sz="1400"/>
                        <a:t>Resale price (£)</a:t>
                      </a:r>
                    </a:p>
                  </a:txBody>
                  <a:tcPr marL="27597" marR="27597" marT="13799" marB="13799" anchor="ctr"/>
                </a:tc>
                <a:extLst>
                  <a:ext uri="{0D108BD9-81ED-4DB2-BD59-A6C34878D82A}">
                    <a16:rowId xmlns:a16="http://schemas.microsoft.com/office/drawing/2014/main" val="3674437940"/>
                  </a:ext>
                </a:extLst>
              </a:tr>
              <a:tr h="242347">
                <a:tc>
                  <a:txBody>
                    <a:bodyPr/>
                    <a:lstStyle/>
                    <a:p>
                      <a:pPr algn="ctr">
                        <a:buNone/>
                      </a:pPr>
                      <a:r>
                        <a:rPr lang="en-GB" sz="1400"/>
                        <a:t>Energy</a:t>
                      </a:r>
                    </a:p>
                  </a:txBody>
                  <a:tcPr marL="27597" marR="27597" marT="13799" marB="13799" anchor="ctr"/>
                </a:tc>
                <a:tc>
                  <a:txBody>
                    <a:bodyPr/>
                    <a:lstStyle/>
                    <a:p>
                      <a:pPr algn="ctr">
                        <a:buNone/>
                      </a:pPr>
                      <a:r>
                        <a:rPr lang="en-GB" sz="1400" dirty="0"/>
                        <a:t>Outside temperature, time of day, day of the week</a:t>
                      </a:r>
                    </a:p>
                  </a:txBody>
                  <a:tcPr marL="27597" marR="27597" marT="13799" marB="13799" anchor="ctr"/>
                </a:tc>
                <a:tc>
                  <a:txBody>
                    <a:bodyPr/>
                    <a:lstStyle/>
                    <a:p>
                      <a:pPr algn="ctr">
                        <a:buNone/>
                      </a:pPr>
                      <a:r>
                        <a:rPr lang="en-GB" sz="1400"/>
                        <a:t>Electricity demand (MW)</a:t>
                      </a:r>
                    </a:p>
                  </a:txBody>
                  <a:tcPr marL="27597" marR="27597" marT="13799" marB="13799" anchor="ctr"/>
                </a:tc>
                <a:extLst>
                  <a:ext uri="{0D108BD9-81ED-4DB2-BD59-A6C34878D82A}">
                    <a16:rowId xmlns:a16="http://schemas.microsoft.com/office/drawing/2014/main" val="285815376"/>
                  </a:ext>
                </a:extLst>
              </a:tr>
              <a:tr h="242347">
                <a:tc>
                  <a:txBody>
                    <a:bodyPr/>
                    <a:lstStyle/>
                    <a:p>
                      <a:pPr algn="ctr">
                        <a:buNone/>
                      </a:pPr>
                      <a:r>
                        <a:rPr lang="en-GB" sz="1400"/>
                        <a:t>Solar power</a:t>
                      </a:r>
                    </a:p>
                  </a:txBody>
                  <a:tcPr marL="27597" marR="27597" marT="13799" marB="13799" anchor="ctr"/>
                </a:tc>
                <a:tc>
                  <a:txBody>
                    <a:bodyPr/>
                    <a:lstStyle/>
                    <a:p>
                      <a:pPr algn="ctr">
                        <a:buNone/>
                      </a:pPr>
                      <a:r>
                        <a:rPr lang="en-GB" sz="1400"/>
                        <a:t>Hours of sunshine, cloud cover, month</a:t>
                      </a:r>
                    </a:p>
                  </a:txBody>
                  <a:tcPr marL="27597" marR="27597" marT="13799" marB="13799" anchor="ctr"/>
                </a:tc>
                <a:tc>
                  <a:txBody>
                    <a:bodyPr/>
                    <a:lstStyle/>
                    <a:p>
                      <a:pPr algn="ctr">
                        <a:buNone/>
                      </a:pPr>
                      <a:r>
                        <a:rPr lang="en-GB" sz="1400"/>
                        <a:t>Energy generated by a solar panel (kWh)</a:t>
                      </a:r>
                    </a:p>
                  </a:txBody>
                  <a:tcPr marL="27597" marR="27597" marT="13799" marB="13799" anchor="ctr"/>
                </a:tc>
                <a:extLst>
                  <a:ext uri="{0D108BD9-81ED-4DB2-BD59-A6C34878D82A}">
                    <a16:rowId xmlns:a16="http://schemas.microsoft.com/office/drawing/2014/main" val="1407198652"/>
                  </a:ext>
                </a:extLst>
              </a:tr>
              <a:tr h="242347">
                <a:tc>
                  <a:txBody>
                    <a:bodyPr/>
                    <a:lstStyle/>
                    <a:p>
                      <a:pPr algn="ctr">
                        <a:buNone/>
                      </a:pPr>
                      <a:r>
                        <a:rPr lang="en-GB" sz="1400"/>
                        <a:t>Health and fitness</a:t>
                      </a:r>
                    </a:p>
                  </a:txBody>
                  <a:tcPr marL="27597" marR="27597" marT="13799" marB="13799" anchor="ctr"/>
                </a:tc>
                <a:tc>
                  <a:txBody>
                    <a:bodyPr/>
                    <a:lstStyle/>
                    <a:p>
                      <a:pPr algn="ctr">
                        <a:buNone/>
                      </a:pPr>
                      <a:r>
                        <a:rPr lang="en-GB" sz="1400"/>
                        <a:t>Height, age, weekly exercise (hours)</a:t>
                      </a:r>
                    </a:p>
                  </a:txBody>
                  <a:tcPr marL="27597" marR="27597" marT="13799" marB="13799" anchor="ctr"/>
                </a:tc>
                <a:tc>
                  <a:txBody>
                    <a:bodyPr/>
                    <a:lstStyle/>
                    <a:p>
                      <a:pPr algn="ctr">
                        <a:buNone/>
                      </a:pPr>
                      <a:r>
                        <a:rPr lang="en-GB" sz="1400"/>
                        <a:t>Body weight (kg)</a:t>
                      </a:r>
                    </a:p>
                  </a:txBody>
                  <a:tcPr marL="27597" marR="27597" marT="13799" marB="13799" anchor="ctr"/>
                </a:tc>
                <a:extLst>
                  <a:ext uri="{0D108BD9-81ED-4DB2-BD59-A6C34878D82A}">
                    <a16:rowId xmlns:a16="http://schemas.microsoft.com/office/drawing/2014/main" val="1748034286"/>
                  </a:ext>
                </a:extLst>
              </a:tr>
              <a:tr h="242347">
                <a:tc>
                  <a:txBody>
                    <a:bodyPr/>
                    <a:lstStyle/>
                    <a:p>
                      <a:pPr algn="ctr">
                        <a:buNone/>
                      </a:pPr>
                      <a:r>
                        <a:rPr lang="en-GB" sz="1400"/>
                        <a:t>Sport</a:t>
                      </a:r>
                    </a:p>
                  </a:txBody>
                  <a:tcPr marL="27597" marR="27597" marT="13799" marB="13799" anchor="ctr"/>
                </a:tc>
                <a:tc>
                  <a:txBody>
                    <a:bodyPr/>
                    <a:lstStyle/>
                    <a:p>
                      <a:pPr algn="ctr">
                        <a:buNone/>
                      </a:pPr>
                      <a:r>
                        <a:rPr lang="en-GB" sz="1400"/>
                        <a:t>Distance run in training, previous race times, age</a:t>
                      </a:r>
                    </a:p>
                  </a:txBody>
                  <a:tcPr marL="27597" marR="27597" marT="13799" marB="13799" anchor="ctr"/>
                </a:tc>
                <a:tc>
                  <a:txBody>
                    <a:bodyPr/>
                    <a:lstStyle/>
                    <a:p>
                      <a:pPr algn="ctr">
                        <a:buNone/>
                      </a:pPr>
                      <a:r>
                        <a:rPr lang="en-GB" sz="1400"/>
                        <a:t>Marathon finish time (minutes)</a:t>
                      </a:r>
                    </a:p>
                  </a:txBody>
                  <a:tcPr marL="27597" marR="27597" marT="13799" marB="13799" anchor="ctr"/>
                </a:tc>
                <a:extLst>
                  <a:ext uri="{0D108BD9-81ED-4DB2-BD59-A6C34878D82A}">
                    <a16:rowId xmlns:a16="http://schemas.microsoft.com/office/drawing/2014/main" val="375681300"/>
                  </a:ext>
                </a:extLst>
              </a:tr>
              <a:tr h="242347">
                <a:tc>
                  <a:txBody>
                    <a:bodyPr/>
                    <a:lstStyle/>
                    <a:p>
                      <a:pPr algn="ctr">
                        <a:buNone/>
                      </a:pPr>
                      <a:r>
                        <a:rPr lang="en-GB" sz="1400"/>
                        <a:t>Football</a:t>
                      </a:r>
                    </a:p>
                  </a:txBody>
                  <a:tcPr marL="27597" marR="27597" marT="13799" marB="13799" anchor="ctr"/>
                </a:tc>
                <a:tc>
                  <a:txBody>
                    <a:bodyPr/>
                    <a:lstStyle/>
                    <a:p>
                      <a:pPr algn="ctr">
                        <a:buNone/>
                      </a:pPr>
                      <a:r>
                        <a:rPr lang="en-GB" sz="1400" dirty="0"/>
                        <a:t>Shots on target, possession (%), passes completed</a:t>
                      </a:r>
                    </a:p>
                  </a:txBody>
                  <a:tcPr marL="27597" marR="27597" marT="13799" marB="13799" anchor="ctr"/>
                </a:tc>
                <a:tc>
                  <a:txBody>
                    <a:bodyPr/>
                    <a:lstStyle/>
                    <a:p>
                      <a:pPr algn="ctr">
                        <a:buNone/>
                      </a:pPr>
                      <a:r>
                        <a:rPr lang="en-GB" sz="1400"/>
                        <a:t>Goals scored in a match</a:t>
                      </a:r>
                    </a:p>
                  </a:txBody>
                  <a:tcPr marL="27597" marR="27597" marT="13799" marB="13799" anchor="ctr"/>
                </a:tc>
                <a:extLst>
                  <a:ext uri="{0D108BD9-81ED-4DB2-BD59-A6C34878D82A}">
                    <a16:rowId xmlns:a16="http://schemas.microsoft.com/office/drawing/2014/main" val="211156754"/>
                  </a:ext>
                </a:extLst>
              </a:tr>
              <a:tr h="242347">
                <a:tc>
                  <a:txBody>
                    <a:bodyPr/>
                    <a:lstStyle/>
                    <a:p>
                      <a:pPr algn="ctr">
                        <a:buNone/>
                      </a:pPr>
                      <a:r>
                        <a:rPr lang="en-GB" sz="1400"/>
                        <a:t>Agriculture</a:t>
                      </a:r>
                    </a:p>
                  </a:txBody>
                  <a:tcPr marL="27597" marR="27597" marT="13799" marB="13799" anchor="ctr"/>
                </a:tc>
                <a:tc>
                  <a:txBody>
                    <a:bodyPr/>
                    <a:lstStyle/>
                    <a:p>
                      <a:pPr algn="ctr">
                        <a:buNone/>
                      </a:pPr>
                      <a:r>
                        <a:rPr lang="en-GB" sz="1400"/>
                        <a:t>Rainfall, fertiliser used, hours of sunshine</a:t>
                      </a:r>
                    </a:p>
                  </a:txBody>
                  <a:tcPr marL="27597" marR="27597" marT="13799" marB="13799" anchor="ctr"/>
                </a:tc>
                <a:tc>
                  <a:txBody>
                    <a:bodyPr/>
                    <a:lstStyle/>
                    <a:p>
                      <a:pPr algn="ctr">
                        <a:buNone/>
                      </a:pPr>
                      <a:r>
                        <a:rPr lang="en-GB" sz="1400"/>
                        <a:t>Crop yield (tonnes per hectare)</a:t>
                      </a:r>
                    </a:p>
                  </a:txBody>
                  <a:tcPr marL="27597" marR="27597" marT="13799" marB="13799" anchor="ctr"/>
                </a:tc>
                <a:extLst>
                  <a:ext uri="{0D108BD9-81ED-4DB2-BD59-A6C34878D82A}">
                    <a16:rowId xmlns:a16="http://schemas.microsoft.com/office/drawing/2014/main" val="3141527039"/>
                  </a:ext>
                </a:extLst>
              </a:tr>
              <a:tr h="242347">
                <a:tc>
                  <a:txBody>
                    <a:bodyPr/>
                    <a:lstStyle/>
                    <a:p>
                      <a:pPr algn="ctr">
                        <a:buNone/>
                      </a:pPr>
                      <a:r>
                        <a:rPr lang="en-GB" sz="1400"/>
                        <a:t>Transport</a:t>
                      </a:r>
                    </a:p>
                  </a:txBody>
                  <a:tcPr marL="27597" marR="27597" marT="13799" marB="13799" anchor="ctr"/>
                </a:tc>
                <a:tc>
                  <a:txBody>
                    <a:bodyPr/>
                    <a:lstStyle/>
                    <a:p>
                      <a:pPr algn="ctr">
                        <a:buNone/>
                      </a:pPr>
                      <a:r>
                        <a:rPr lang="en-GB" sz="1400"/>
                        <a:t>Distance, time of day, number of stops</a:t>
                      </a:r>
                    </a:p>
                  </a:txBody>
                  <a:tcPr marL="27597" marR="27597" marT="13799" marB="13799" anchor="ctr"/>
                </a:tc>
                <a:tc>
                  <a:txBody>
                    <a:bodyPr/>
                    <a:lstStyle/>
                    <a:p>
                      <a:pPr algn="ctr">
                        <a:buNone/>
                      </a:pPr>
                      <a:r>
                        <a:rPr lang="en-GB" sz="1400"/>
                        <a:t>Journey time (minutes)</a:t>
                      </a:r>
                    </a:p>
                  </a:txBody>
                  <a:tcPr marL="27597" marR="27597" marT="13799" marB="13799" anchor="ctr"/>
                </a:tc>
                <a:extLst>
                  <a:ext uri="{0D108BD9-81ED-4DB2-BD59-A6C34878D82A}">
                    <a16:rowId xmlns:a16="http://schemas.microsoft.com/office/drawing/2014/main" val="329504883"/>
                  </a:ext>
                </a:extLst>
              </a:tr>
              <a:tr h="242347">
                <a:tc>
                  <a:txBody>
                    <a:bodyPr/>
                    <a:lstStyle/>
                    <a:p>
                      <a:pPr algn="ctr">
                        <a:buNone/>
                      </a:pPr>
                      <a:r>
                        <a:rPr lang="en-GB" sz="1400"/>
                        <a:t>Deliveries</a:t>
                      </a:r>
                    </a:p>
                  </a:txBody>
                  <a:tcPr marL="27597" marR="27597" marT="13799" marB="13799" anchor="ctr"/>
                </a:tc>
                <a:tc>
                  <a:txBody>
                    <a:bodyPr/>
                    <a:lstStyle/>
                    <a:p>
                      <a:pPr algn="ctr">
                        <a:buNone/>
                      </a:pPr>
                      <a:r>
                        <a:rPr lang="en-GB" sz="1400"/>
                        <a:t>Distance, parcel weight, traffic level</a:t>
                      </a:r>
                    </a:p>
                  </a:txBody>
                  <a:tcPr marL="27597" marR="27597" marT="13799" marB="13799" anchor="ctr"/>
                </a:tc>
                <a:tc>
                  <a:txBody>
                    <a:bodyPr/>
                    <a:lstStyle/>
                    <a:p>
                      <a:pPr algn="ctr">
                        <a:buNone/>
                      </a:pPr>
                      <a:r>
                        <a:rPr lang="en-GB" sz="1400"/>
                        <a:t>Delivery time (minutes)</a:t>
                      </a:r>
                    </a:p>
                  </a:txBody>
                  <a:tcPr marL="27597" marR="27597" marT="13799" marB="13799" anchor="ctr"/>
                </a:tc>
                <a:extLst>
                  <a:ext uri="{0D108BD9-81ED-4DB2-BD59-A6C34878D82A}">
                    <a16:rowId xmlns:a16="http://schemas.microsoft.com/office/drawing/2014/main" val="702947373"/>
                  </a:ext>
                </a:extLst>
              </a:tr>
              <a:tr h="242347">
                <a:tc>
                  <a:txBody>
                    <a:bodyPr/>
                    <a:lstStyle/>
                    <a:p>
                      <a:pPr algn="ctr">
                        <a:buNone/>
                      </a:pPr>
                      <a:r>
                        <a:rPr lang="en-GB" sz="1400"/>
                        <a:t>Hospitality</a:t>
                      </a:r>
                    </a:p>
                  </a:txBody>
                  <a:tcPr marL="27597" marR="27597" marT="13799" marB="13799" anchor="ctr"/>
                </a:tc>
                <a:tc>
                  <a:txBody>
                    <a:bodyPr/>
                    <a:lstStyle/>
                    <a:p>
                      <a:pPr algn="ctr">
                        <a:buNone/>
                      </a:pPr>
                      <a:r>
                        <a:rPr lang="en-GB" sz="1400"/>
                        <a:t>Price per night, star rating, distance to the beach</a:t>
                      </a:r>
                    </a:p>
                  </a:txBody>
                  <a:tcPr marL="27597" marR="27597" marT="13799" marB="13799" anchor="ctr"/>
                </a:tc>
                <a:tc>
                  <a:txBody>
                    <a:bodyPr/>
                    <a:lstStyle/>
                    <a:p>
                      <a:pPr algn="ctr">
                        <a:buNone/>
                      </a:pPr>
                      <a:r>
                        <a:rPr lang="en-GB" sz="1400"/>
                        <a:t>Hotel bookings per month</a:t>
                      </a:r>
                    </a:p>
                  </a:txBody>
                  <a:tcPr marL="27597" marR="27597" marT="13799" marB="13799" anchor="ctr"/>
                </a:tc>
                <a:extLst>
                  <a:ext uri="{0D108BD9-81ED-4DB2-BD59-A6C34878D82A}">
                    <a16:rowId xmlns:a16="http://schemas.microsoft.com/office/drawing/2014/main" val="1908070931"/>
                  </a:ext>
                </a:extLst>
              </a:tr>
              <a:tr h="242347">
                <a:tc>
                  <a:txBody>
                    <a:bodyPr/>
                    <a:lstStyle/>
                    <a:p>
                      <a:pPr algn="ctr">
                        <a:buNone/>
                      </a:pPr>
                      <a:r>
                        <a:rPr lang="en-GB" sz="1400"/>
                        <a:t>Marketing</a:t>
                      </a:r>
                    </a:p>
                  </a:txBody>
                  <a:tcPr marL="27597" marR="27597" marT="13799" marB="13799" anchor="ctr"/>
                </a:tc>
                <a:tc>
                  <a:txBody>
                    <a:bodyPr/>
                    <a:lstStyle/>
                    <a:p>
                      <a:pPr algn="ctr">
                        <a:buNone/>
                      </a:pPr>
                      <a:r>
                        <a:rPr lang="en-GB" sz="1400"/>
                        <a:t>Advertising spend on TV, radio and social media</a:t>
                      </a:r>
                    </a:p>
                  </a:txBody>
                  <a:tcPr marL="27597" marR="27597" marT="13799" marB="13799" anchor="ctr"/>
                </a:tc>
                <a:tc>
                  <a:txBody>
                    <a:bodyPr/>
                    <a:lstStyle/>
                    <a:p>
                      <a:pPr algn="ctr">
                        <a:buNone/>
                      </a:pPr>
                      <a:r>
                        <a:rPr lang="en-GB" sz="1400"/>
                        <a:t>Sales (£)</a:t>
                      </a:r>
                    </a:p>
                  </a:txBody>
                  <a:tcPr marL="27597" marR="27597" marT="13799" marB="13799" anchor="ctr"/>
                </a:tc>
                <a:extLst>
                  <a:ext uri="{0D108BD9-81ED-4DB2-BD59-A6C34878D82A}">
                    <a16:rowId xmlns:a16="http://schemas.microsoft.com/office/drawing/2014/main" val="2805477248"/>
                  </a:ext>
                </a:extLst>
              </a:tr>
              <a:tr h="242347">
                <a:tc>
                  <a:txBody>
                    <a:bodyPr/>
                    <a:lstStyle/>
                    <a:p>
                      <a:pPr algn="ctr">
                        <a:buNone/>
                      </a:pPr>
                      <a:r>
                        <a:rPr lang="en-GB" sz="1400"/>
                        <a:t>Streaming</a:t>
                      </a:r>
                    </a:p>
                  </a:txBody>
                  <a:tcPr marL="27597" marR="27597" marT="13799" marB="13799" anchor="ctr"/>
                </a:tc>
                <a:tc>
                  <a:txBody>
                    <a:bodyPr/>
                    <a:lstStyle/>
                    <a:p>
                      <a:pPr algn="ctr">
                        <a:buNone/>
                      </a:pPr>
                      <a:r>
                        <a:rPr lang="en-GB" sz="1400"/>
                        <a:t>Trailer views, number of well-known actors, budget</a:t>
                      </a:r>
                    </a:p>
                  </a:txBody>
                  <a:tcPr marL="27597" marR="27597" marT="13799" marB="13799" anchor="ctr"/>
                </a:tc>
                <a:tc>
                  <a:txBody>
                    <a:bodyPr/>
                    <a:lstStyle/>
                    <a:p>
                      <a:pPr algn="ctr">
                        <a:buNone/>
                      </a:pPr>
                      <a:r>
                        <a:rPr lang="en-GB" sz="1400"/>
                        <a:t>First-week viewing figures</a:t>
                      </a:r>
                    </a:p>
                  </a:txBody>
                  <a:tcPr marL="27597" marR="27597" marT="13799" marB="13799" anchor="ctr"/>
                </a:tc>
                <a:extLst>
                  <a:ext uri="{0D108BD9-81ED-4DB2-BD59-A6C34878D82A}">
                    <a16:rowId xmlns:a16="http://schemas.microsoft.com/office/drawing/2014/main" val="613833810"/>
                  </a:ext>
                </a:extLst>
              </a:tr>
              <a:tr h="242347">
                <a:tc>
                  <a:txBody>
                    <a:bodyPr/>
                    <a:lstStyle/>
                    <a:p>
                      <a:pPr algn="ctr">
                        <a:buNone/>
                      </a:pPr>
                      <a:r>
                        <a:rPr lang="en-GB" sz="1400"/>
                        <a:t>Coffee shop</a:t>
                      </a:r>
                    </a:p>
                  </a:txBody>
                  <a:tcPr marL="27597" marR="27597" marT="13799" marB="13799" anchor="ctr"/>
                </a:tc>
                <a:tc>
                  <a:txBody>
                    <a:bodyPr/>
                    <a:lstStyle/>
                    <a:p>
                      <a:pPr algn="ctr">
                        <a:buNone/>
                      </a:pPr>
                      <a:r>
                        <a:rPr lang="en-GB" sz="1400" dirty="0"/>
                        <a:t>Time of day, temperature, footfall outside</a:t>
                      </a:r>
                    </a:p>
                  </a:txBody>
                  <a:tcPr marL="27597" marR="27597" marT="13799" marB="13799" anchor="ctr"/>
                </a:tc>
                <a:tc>
                  <a:txBody>
                    <a:bodyPr/>
                    <a:lstStyle/>
                    <a:p>
                      <a:pPr algn="ctr">
                        <a:buNone/>
                      </a:pPr>
                      <a:r>
                        <a:rPr lang="en-GB" sz="1400"/>
                        <a:t>Coffees sold per hour</a:t>
                      </a:r>
                    </a:p>
                  </a:txBody>
                  <a:tcPr marL="27597" marR="27597" marT="13799" marB="13799" anchor="ctr"/>
                </a:tc>
                <a:extLst>
                  <a:ext uri="{0D108BD9-81ED-4DB2-BD59-A6C34878D82A}">
                    <a16:rowId xmlns:a16="http://schemas.microsoft.com/office/drawing/2014/main" val="3979643127"/>
                  </a:ext>
                </a:extLst>
              </a:tr>
              <a:tr h="242347">
                <a:tc>
                  <a:txBody>
                    <a:bodyPr/>
                    <a:lstStyle/>
                    <a:p>
                      <a:pPr algn="ctr">
                        <a:buNone/>
                      </a:pPr>
                      <a:r>
                        <a:rPr lang="en-GB" sz="1400"/>
                        <a:t>Jobs</a:t>
                      </a:r>
                    </a:p>
                  </a:txBody>
                  <a:tcPr marL="27597" marR="27597" marT="13799" marB="13799" anchor="ctr"/>
                </a:tc>
                <a:tc>
                  <a:txBody>
                    <a:bodyPr/>
                    <a:lstStyle/>
                    <a:p>
                      <a:pPr algn="ctr">
                        <a:buNone/>
                      </a:pPr>
                      <a:r>
                        <a:rPr lang="en-GB" sz="1400"/>
                        <a:t>Years of experience, qualification level, region</a:t>
                      </a:r>
                    </a:p>
                  </a:txBody>
                  <a:tcPr marL="27597" marR="27597" marT="13799" marB="13799" anchor="ctr"/>
                </a:tc>
                <a:tc>
                  <a:txBody>
                    <a:bodyPr/>
                    <a:lstStyle/>
                    <a:p>
                      <a:pPr algn="ctr">
                        <a:buNone/>
                      </a:pPr>
                      <a:r>
                        <a:rPr lang="en-GB" sz="1400"/>
                        <a:t>Starting salary (£)</a:t>
                      </a:r>
                    </a:p>
                  </a:txBody>
                  <a:tcPr marL="27597" marR="27597" marT="13799" marB="13799" anchor="ctr"/>
                </a:tc>
                <a:extLst>
                  <a:ext uri="{0D108BD9-81ED-4DB2-BD59-A6C34878D82A}">
                    <a16:rowId xmlns:a16="http://schemas.microsoft.com/office/drawing/2014/main" val="2331630136"/>
                  </a:ext>
                </a:extLst>
              </a:tr>
              <a:tr h="242347">
                <a:tc>
                  <a:txBody>
                    <a:bodyPr/>
                    <a:lstStyle/>
                    <a:p>
                      <a:pPr algn="ctr">
                        <a:buNone/>
                      </a:pPr>
                      <a:r>
                        <a:rPr lang="en-GB" sz="1400"/>
                        <a:t>Environment</a:t>
                      </a:r>
                    </a:p>
                  </a:txBody>
                  <a:tcPr marL="27597" marR="27597" marT="13799" marB="13799" anchor="ctr"/>
                </a:tc>
                <a:tc>
                  <a:txBody>
                    <a:bodyPr/>
                    <a:lstStyle/>
                    <a:p>
                      <a:pPr algn="ctr">
                        <a:buNone/>
                      </a:pPr>
                      <a:r>
                        <a:rPr lang="en-GB" sz="1400"/>
                        <a:t>Traffic volume, wind speed, temperature</a:t>
                      </a:r>
                    </a:p>
                  </a:txBody>
                  <a:tcPr marL="27597" marR="27597" marT="13799" marB="13799" anchor="ctr"/>
                </a:tc>
                <a:tc>
                  <a:txBody>
                    <a:bodyPr/>
                    <a:lstStyle/>
                    <a:p>
                      <a:pPr algn="ctr">
                        <a:buNone/>
                      </a:pPr>
                      <a:r>
                        <a:rPr lang="en-GB" sz="1400"/>
                        <a:t>Air pollution level (NO₂, µg/m³)</a:t>
                      </a:r>
                    </a:p>
                  </a:txBody>
                  <a:tcPr marL="27597" marR="27597" marT="13799" marB="13799" anchor="ctr"/>
                </a:tc>
                <a:extLst>
                  <a:ext uri="{0D108BD9-81ED-4DB2-BD59-A6C34878D82A}">
                    <a16:rowId xmlns:a16="http://schemas.microsoft.com/office/drawing/2014/main" val="2944041951"/>
                  </a:ext>
                </a:extLst>
              </a:tr>
              <a:tr h="242347">
                <a:tc>
                  <a:txBody>
                    <a:bodyPr/>
                    <a:lstStyle/>
                    <a:p>
                      <a:pPr algn="ctr">
                        <a:buNone/>
                      </a:pPr>
                      <a:r>
                        <a:rPr lang="en-GB" sz="1400"/>
                        <a:t>Gaming</a:t>
                      </a:r>
                    </a:p>
                  </a:txBody>
                  <a:tcPr marL="27597" marR="27597" marT="13799" marB="13799" anchor="ctr"/>
                </a:tc>
                <a:tc>
                  <a:txBody>
                    <a:bodyPr/>
                    <a:lstStyle/>
                    <a:p>
                      <a:pPr algn="ctr">
                        <a:buNone/>
                      </a:pPr>
                      <a:r>
                        <a:rPr lang="en-GB" sz="1400"/>
                        <a:t>Hours played, number of friends on the platform</a:t>
                      </a:r>
                    </a:p>
                  </a:txBody>
                  <a:tcPr marL="27597" marR="27597" marT="13799" marB="13799" anchor="ctr"/>
                </a:tc>
                <a:tc>
                  <a:txBody>
                    <a:bodyPr/>
                    <a:lstStyle/>
                    <a:p>
                      <a:pPr algn="ctr">
                        <a:buNone/>
                      </a:pPr>
                      <a:r>
                        <a:rPr lang="en-GB" sz="1400"/>
                        <a:t>In-game spending (£)</a:t>
                      </a:r>
                    </a:p>
                  </a:txBody>
                  <a:tcPr marL="27597" marR="27597" marT="13799" marB="13799" anchor="ctr"/>
                </a:tc>
                <a:extLst>
                  <a:ext uri="{0D108BD9-81ED-4DB2-BD59-A6C34878D82A}">
                    <a16:rowId xmlns:a16="http://schemas.microsoft.com/office/drawing/2014/main" val="341039906"/>
                  </a:ext>
                </a:extLst>
              </a:tr>
              <a:tr h="452918">
                <a:tc>
                  <a:txBody>
                    <a:bodyPr/>
                    <a:lstStyle/>
                    <a:p>
                      <a:pPr algn="ctr">
                        <a:buNone/>
                      </a:pPr>
                      <a:r>
                        <a:rPr lang="en-GB" sz="1400"/>
                        <a:t>Phones</a:t>
                      </a:r>
                    </a:p>
                  </a:txBody>
                  <a:tcPr marL="27597" marR="27597" marT="13799" marB="13799" anchor="ctr"/>
                </a:tc>
                <a:tc>
                  <a:txBody>
                    <a:bodyPr/>
                    <a:lstStyle/>
                    <a:p>
                      <a:pPr algn="ctr">
                        <a:buNone/>
                      </a:pPr>
                      <a:r>
                        <a:rPr lang="en-GB" sz="1400"/>
                        <a:t>Screen-on time, number of apps running, screen brightness</a:t>
                      </a:r>
                    </a:p>
                  </a:txBody>
                  <a:tcPr marL="27597" marR="27597" marT="13799" marB="13799" anchor="ctr"/>
                </a:tc>
                <a:tc>
                  <a:txBody>
                    <a:bodyPr/>
                    <a:lstStyle/>
                    <a:p>
                      <a:pPr algn="ctr">
                        <a:buNone/>
                      </a:pPr>
                      <a:r>
                        <a:rPr lang="en-GB" sz="1400"/>
                        <a:t>Battery life (hours)</a:t>
                      </a:r>
                    </a:p>
                  </a:txBody>
                  <a:tcPr marL="27597" marR="27597" marT="13799" marB="13799" anchor="ctr"/>
                </a:tc>
                <a:extLst>
                  <a:ext uri="{0D108BD9-81ED-4DB2-BD59-A6C34878D82A}">
                    <a16:rowId xmlns:a16="http://schemas.microsoft.com/office/drawing/2014/main" val="1904097717"/>
                  </a:ext>
                </a:extLst>
              </a:tr>
              <a:tr h="242347">
                <a:tc>
                  <a:txBody>
                    <a:bodyPr/>
                    <a:lstStyle/>
                    <a:p>
                      <a:pPr algn="ctr">
                        <a:buNone/>
                      </a:pPr>
                      <a:r>
                        <a:rPr lang="en-GB" sz="1400"/>
                        <a:t>Weather</a:t>
                      </a:r>
                    </a:p>
                  </a:txBody>
                  <a:tcPr marL="27597" marR="27597" marT="13799" marB="13799" anchor="ctr"/>
                </a:tc>
                <a:tc>
                  <a:txBody>
                    <a:bodyPr/>
                    <a:lstStyle/>
                    <a:p>
                      <a:pPr algn="ctr">
                        <a:buNone/>
                      </a:pPr>
                      <a:r>
                        <a:rPr lang="en-GB" sz="1400" dirty="0"/>
                        <a:t>Today's temperature, humidity, air pressure</a:t>
                      </a:r>
                    </a:p>
                  </a:txBody>
                  <a:tcPr marL="27597" marR="27597" marT="13799" marB="13799" anchor="ctr"/>
                </a:tc>
                <a:tc>
                  <a:txBody>
                    <a:bodyPr/>
                    <a:lstStyle/>
                    <a:p>
                      <a:pPr algn="ctr">
                        <a:buNone/>
                      </a:pPr>
                      <a:r>
                        <a:rPr lang="en-GB" sz="1400" dirty="0"/>
                        <a:t>Tomorrow's temperature (°C)</a:t>
                      </a:r>
                    </a:p>
                  </a:txBody>
                  <a:tcPr marL="27597" marR="27597" marT="13799" marB="13799" anchor="ctr"/>
                </a:tc>
                <a:extLst>
                  <a:ext uri="{0D108BD9-81ED-4DB2-BD59-A6C34878D82A}">
                    <a16:rowId xmlns:a16="http://schemas.microsoft.com/office/drawing/2014/main" val="2265565819"/>
                  </a:ext>
                </a:extLst>
              </a:tr>
            </a:tbl>
          </a:graphicData>
        </a:graphic>
      </p:graphicFrame>
    </p:spTree>
    <p:extLst>
      <p:ext uri="{BB962C8B-B14F-4D97-AF65-F5344CB8AC3E}">
        <p14:creationId xmlns:p14="http://schemas.microsoft.com/office/powerpoint/2010/main" val="1932344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6.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BDD16F-C990-8BBE-8EDA-B50D22417EC5}"/>
              </a:ext>
            </a:extLst>
          </p:cNvPr>
          <p:cNvPicPr>
            <a:picLocks noChangeAspect="1"/>
          </p:cNvPicPr>
          <p:nvPr/>
        </p:nvPicPr>
        <p:blipFill>
          <a:blip r:embed="rId3"/>
          <a:stretch>
            <a:fillRect/>
          </a:stretch>
        </p:blipFill>
        <p:spPr>
          <a:xfrm>
            <a:off x="756961" y="931673"/>
            <a:ext cx="7189834" cy="4994653"/>
          </a:xfrm>
          <a:prstGeom prst="rect">
            <a:avLst/>
          </a:prstGeom>
        </p:spPr>
      </p:pic>
      <p:sp>
        <p:nvSpPr>
          <p:cNvPr id="4" name="TextBox 3">
            <a:extLst>
              <a:ext uri="{FF2B5EF4-FFF2-40B4-BE49-F238E27FC236}">
                <a16:creationId xmlns:a16="http://schemas.microsoft.com/office/drawing/2014/main" id="{A0431172-2B90-C0A4-0F97-EB9B56E83E70}"/>
              </a:ext>
            </a:extLst>
          </p:cNvPr>
          <p:cNvSpPr txBox="1"/>
          <p:nvPr/>
        </p:nvSpPr>
        <p:spPr>
          <a:xfrm>
            <a:off x="8314768" y="1148209"/>
            <a:ext cx="3628993" cy="1200329"/>
          </a:xfrm>
          <a:prstGeom prst="rect">
            <a:avLst/>
          </a:prstGeom>
          <a:noFill/>
        </p:spPr>
        <p:txBody>
          <a:bodyPr wrap="square" rtlCol="0">
            <a:spAutoFit/>
          </a:bodyPr>
          <a:lstStyle/>
          <a:p>
            <a:r>
              <a:rPr lang="en-GB" sz="2400" dirty="0"/>
              <a:t>If we add another line to this model that is poor, we can see the error is higher..</a:t>
            </a:r>
          </a:p>
        </p:txBody>
      </p:sp>
      <p:sp>
        <p:nvSpPr>
          <p:cNvPr id="6" name="TextBox 5">
            <a:extLst>
              <a:ext uri="{FF2B5EF4-FFF2-40B4-BE49-F238E27FC236}">
                <a16:creationId xmlns:a16="http://schemas.microsoft.com/office/drawing/2014/main" id="{B7B493A2-CEFE-B6B2-5B8D-51440368C489}"/>
              </a:ext>
            </a:extLst>
          </p:cNvPr>
          <p:cNvSpPr txBox="1"/>
          <p:nvPr/>
        </p:nvSpPr>
        <p:spPr>
          <a:xfrm>
            <a:off x="8314768" y="3789285"/>
            <a:ext cx="2903455" cy="461665"/>
          </a:xfrm>
          <a:prstGeom prst="rect">
            <a:avLst/>
          </a:prstGeom>
          <a:noFill/>
        </p:spPr>
        <p:txBody>
          <a:bodyPr wrap="square" rtlCol="0">
            <a:spAutoFit/>
          </a:bodyPr>
          <a:lstStyle/>
          <a:p>
            <a:r>
              <a:rPr lang="en-GB" sz="2400" dirty="0"/>
              <a:t>(add the line Ryan)</a:t>
            </a:r>
          </a:p>
        </p:txBody>
      </p:sp>
    </p:spTree>
    <p:extLst>
      <p:ext uri="{BB962C8B-B14F-4D97-AF65-F5344CB8AC3E}">
        <p14:creationId xmlns:p14="http://schemas.microsoft.com/office/powerpoint/2010/main" val="3517945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8.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6ABFAE46-CE60-4886-EF66-1FA39EE145CB}"/>
              </a:ext>
            </a:extLst>
          </p:cNvPr>
          <p:cNvSpPr txBox="1"/>
          <p:nvPr/>
        </p:nvSpPr>
        <p:spPr>
          <a:xfrm>
            <a:off x="6853287" y="2248292"/>
            <a:ext cx="914400" cy="523220"/>
          </a:xfrm>
          <a:prstGeom prst="rect">
            <a:avLst/>
          </a:prstGeom>
          <a:noFill/>
        </p:spPr>
        <p:txBody>
          <a:bodyPr wrap="square" rtlCol="0">
            <a:spAutoFit/>
          </a:bodyPr>
          <a:lstStyle/>
          <a:p>
            <a:r>
              <a:rPr lang="en-GB" sz="2800" b="1" dirty="0">
                <a:solidFill>
                  <a:srgbClr val="FF0000"/>
                </a:solidFill>
              </a:rPr>
              <a:t>=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9.png"/>
          <p:cNvPicPr>
            <a:picLocks noChangeAspect="1"/>
          </p:cNvPicPr>
          <p:nvPr/>
        </p:nvPicPr>
        <p:blipFill>
          <a:blip r:embed="rId3"/>
          <a:stretch>
            <a:fillRect/>
          </a:stretch>
        </p:blipFill>
        <p:spPr>
          <a:xfrm>
            <a:off x="0" y="0"/>
            <a:ext cx="12192000" cy="6858000"/>
          </a:xfrm>
          <a:prstGeom prst="rect">
            <a:avLst/>
          </a:prstGeom>
        </p:spPr>
      </p:pic>
      <p:cxnSp>
        <p:nvCxnSpPr>
          <p:cNvPr id="4" name="Straight Connector 3">
            <a:extLst>
              <a:ext uri="{FF2B5EF4-FFF2-40B4-BE49-F238E27FC236}">
                <a16:creationId xmlns:a16="http://schemas.microsoft.com/office/drawing/2014/main" id="{D46A4B2F-5825-7FCC-1870-30BC3D952F51}"/>
              </a:ext>
            </a:extLst>
          </p:cNvPr>
          <p:cNvCxnSpPr/>
          <p:nvPr/>
        </p:nvCxnSpPr>
        <p:spPr>
          <a:xfrm>
            <a:off x="584462" y="1574276"/>
            <a:ext cx="436461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864D7D4D-C3AB-FDD7-6C72-3D986881E145}"/>
              </a:ext>
            </a:extLst>
          </p:cNvPr>
          <p:cNvPicPr>
            <a:picLocks noChangeAspect="1"/>
          </p:cNvPicPr>
          <p:nvPr/>
        </p:nvPicPr>
        <p:blipFill>
          <a:blip r:embed="rId4"/>
          <a:stretch>
            <a:fillRect/>
          </a:stretch>
        </p:blipFill>
        <p:spPr>
          <a:xfrm>
            <a:off x="7591396" y="4433746"/>
            <a:ext cx="3157286" cy="21933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0.png"/>
          <p:cNvPicPr>
            <a:picLocks noChangeAspect="1"/>
          </p:cNvPicPr>
          <p:nvPr/>
        </p:nvPicPr>
        <p:blipFill>
          <a:blip r:embed="rId3"/>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D56DF5F0-42F7-85AE-F92F-F626855B317A}"/>
              </a:ext>
            </a:extLst>
          </p:cNvPr>
          <p:cNvPicPr>
            <a:picLocks noChangeAspect="1"/>
          </p:cNvPicPr>
          <p:nvPr/>
        </p:nvPicPr>
        <p:blipFill>
          <a:blip r:embed="rId4"/>
          <a:stretch>
            <a:fillRect/>
          </a:stretch>
        </p:blipFill>
        <p:spPr>
          <a:xfrm>
            <a:off x="7591396" y="4528014"/>
            <a:ext cx="3157286" cy="21933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4.png"/>
          <p:cNvPicPr>
            <a:picLocks noChangeAspect="1"/>
          </p:cNvPicPr>
          <p:nvPr/>
        </p:nvPicPr>
        <p:blipFill>
          <a:blip r:embed="rId3"/>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3758ED5C-5AE4-8611-40A7-7279D671DB7E}"/>
              </a:ext>
            </a:extLst>
          </p:cNvPr>
          <p:cNvSpPr txBox="1"/>
          <p:nvPr/>
        </p:nvSpPr>
        <p:spPr>
          <a:xfrm>
            <a:off x="320512" y="150829"/>
            <a:ext cx="3544478" cy="369332"/>
          </a:xfrm>
          <a:prstGeom prst="rect">
            <a:avLst/>
          </a:prstGeom>
          <a:noFill/>
        </p:spPr>
        <p:txBody>
          <a:bodyPr wrap="square" rtlCol="0">
            <a:spAutoFit/>
          </a:bodyPr>
          <a:lstStyle/>
          <a:p>
            <a:r>
              <a:rPr lang="en-GB" dirty="0">
                <a:solidFill>
                  <a:schemeClr val="tx1">
                    <a:lumMod val="50000"/>
                    <a:lumOff val="50000"/>
                  </a:schemeClr>
                </a:solidFill>
              </a:rPr>
              <a:t>Dr Ryan Fellows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5.png"/>
          <p:cNvPicPr>
            <a:picLocks noChangeAspect="1"/>
          </p:cNvPicPr>
          <p:nvPr/>
        </p:nvPicPr>
        <p:blipFill>
          <a:blip r:embed="rId3"/>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091805F-8832-60C5-2405-53690BA78E3B}"/>
              </a:ext>
            </a:extLst>
          </p:cNvPr>
          <p:cNvSpPr txBox="1"/>
          <p:nvPr/>
        </p:nvSpPr>
        <p:spPr>
          <a:xfrm>
            <a:off x="4185501" y="377073"/>
            <a:ext cx="7437748" cy="461665"/>
          </a:xfrm>
          <a:prstGeom prst="rect">
            <a:avLst/>
          </a:prstGeom>
          <a:noFill/>
        </p:spPr>
        <p:txBody>
          <a:bodyPr wrap="square" rtlCol="0">
            <a:spAutoFit/>
          </a:bodyPr>
          <a:lstStyle/>
          <a:p>
            <a:r>
              <a:rPr lang="en-GB" sz="2400" dirty="0">
                <a:solidFill>
                  <a:srgbClr val="00B050"/>
                </a:solidFill>
              </a:rPr>
              <a:t>This one is less important for now but I left it in anyway.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6.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_01.png">
            <a:extLst>
              <a:ext uri="{FF2B5EF4-FFF2-40B4-BE49-F238E27FC236}">
                <a16:creationId xmlns:a16="http://schemas.microsoft.com/office/drawing/2014/main" id="{69B97C4B-B044-C725-797B-B6D4D873F56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82407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0ECA19-41BA-8456-3A1B-F79DB3E35512}"/>
              </a:ext>
            </a:extLst>
          </p:cNvPr>
          <p:cNvSpPr txBox="1"/>
          <p:nvPr/>
        </p:nvSpPr>
        <p:spPr>
          <a:xfrm>
            <a:off x="370003" y="1238062"/>
            <a:ext cx="5220092" cy="3539430"/>
          </a:xfrm>
          <a:prstGeom prst="rect">
            <a:avLst/>
          </a:prstGeom>
          <a:noFill/>
          <a:ln>
            <a:solidFill>
              <a:schemeClr val="tx1"/>
            </a:solidFill>
          </a:ln>
        </p:spPr>
        <p:txBody>
          <a:bodyPr wrap="square">
            <a:spAutoFit/>
          </a:bodyPr>
          <a:lstStyle/>
          <a:p>
            <a:r>
              <a:rPr lang="en-GB" sz="2800" dirty="0"/>
              <a:t>1.0,1.2 1.3,0.8 0.7,1.0, 1.1,1.5 1.5,1.1 0.8,1.4 1.2,0.9 0.9,0.7, 1.4,1.3 1.1,1.0 5.0,5.2, 5.3,4.8 4.7,5.0 5.1,5.5 5.5,5.1 4.8,5.4, 5.2,4.9 4.9,4.7 5.4,5.3, 5.0,4.8 9.0,1.0 9.3,1.3 8.7,0.8 9.2,1.5, 9.5,1.1 8.8,1.4 9.1,0.7, 8.9,1.2 9.4,0.9 9.0,1.4</a:t>
            </a:r>
          </a:p>
        </p:txBody>
      </p:sp>
      <p:sp>
        <p:nvSpPr>
          <p:cNvPr id="6" name="TextBox 5">
            <a:extLst>
              <a:ext uri="{FF2B5EF4-FFF2-40B4-BE49-F238E27FC236}">
                <a16:creationId xmlns:a16="http://schemas.microsoft.com/office/drawing/2014/main" id="{1E93982C-1A29-CE3F-6F42-D3CD1DE5E8E1}"/>
              </a:ext>
            </a:extLst>
          </p:cNvPr>
          <p:cNvSpPr txBox="1"/>
          <p:nvPr/>
        </p:nvSpPr>
        <p:spPr>
          <a:xfrm>
            <a:off x="6278252" y="1358153"/>
            <a:ext cx="5297864" cy="3046988"/>
          </a:xfrm>
          <a:prstGeom prst="rect">
            <a:avLst/>
          </a:prstGeom>
          <a:noFill/>
        </p:spPr>
        <p:txBody>
          <a:bodyPr wrap="square" rtlCol="0">
            <a:spAutoFit/>
          </a:bodyPr>
          <a:lstStyle/>
          <a:p>
            <a:pPr marL="342900" indent="-342900">
              <a:buFont typeface="Arial" panose="020B0604020202020204" pitchFamily="34" charset="0"/>
              <a:buChar char="•"/>
            </a:pPr>
            <a:r>
              <a:rPr lang="en-GB" sz="2400" dirty="0"/>
              <a:t>Sometimes we get data like this. To the human eye, it almost looks random, but it does represent something.</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With no labels we need unsupervised learning to see if there is anything interesting going on.</a:t>
            </a:r>
          </a:p>
        </p:txBody>
      </p:sp>
    </p:spTree>
    <p:extLst>
      <p:ext uri="{BB962C8B-B14F-4D97-AF65-F5344CB8AC3E}">
        <p14:creationId xmlns:p14="http://schemas.microsoft.com/office/powerpoint/2010/main" val="184877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_02.png">
            <a:extLst>
              <a:ext uri="{FF2B5EF4-FFF2-40B4-BE49-F238E27FC236}">
                <a16:creationId xmlns:a16="http://schemas.microsoft.com/office/drawing/2014/main" id="{BB07455D-17C7-13FB-0C5D-A15A8A6CDC97}"/>
              </a:ext>
            </a:extLst>
          </p:cNvPr>
          <p:cNvPicPr>
            <a:picLocks noChangeAspect="1"/>
          </p:cNvPicPr>
          <p:nvPr/>
        </p:nvPicPr>
        <p:blipFill>
          <a:blip r:embed="rId3"/>
          <a:srcRect r="45536"/>
          <a:stretch>
            <a:fillRect/>
          </a:stretch>
        </p:blipFill>
        <p:spPr>
          <a:xfrm>
            <a:off x="0" y="0"/>
            <a:ext cx="6640286" cy="6858000"/>
          </a:xfrm>
          <a:prstGeom prst="rect">
            <a:avLst/>
          </a:prstGeom>
        </p:spPr>
      </p:pic>
      <p:sp>
        <p:nvSpPr>
          <p:cNvPr id="4" name="TextBox 3">
            <a:extLst>
              <a:ext uri="{FF2B5EF4-FFF2-40B4-BE49-F238E27FC236}">
                <a16:creationId xmlns:a16="http://schemas.microsoft.com/office/drawing/2014/main" id="{4772C723-8C15-77CB-E654-FBBA2DDC5F65}"/>
              </a:ext>
            </a:extLst>
          </p:cNvPr>
          <p:cNvSpPr txBox="1"/>
          <p:nvPr/>
        </p:nvSpPr>
        <p:spPr>
          <a:xfrm>
            <a:off x="7293429" y="881743"/>
            <a:ext cx="4615542" cy="5632311"/>
          </a:xfrm>
          <a:prstGeom prst="rect">
            <a:avLst/>
          </a:prstGeom>
          <a:noFill/>
        </p:spPr>
        <p:txBody>
          <a:bodyPr wrap="square" rtlCol="0">
            <a:spAutoFit/>
          </a:bodyPr>
          <a:lstStyle/>
          <a:p>
            <a:pPr marL="342900" indent="-342900">
              <a:buFont typeface="Arial" panose="020B0604020202020204" pitchFamily="34" charset="0"/>
              <a:buChar char="•"/>
            </a:pPr>
            <a:r>
              <a:rPr lang="en-GB" sz="2400" dirty="0"/>
              <a:t>KNN has some similarities to clustering algorithms but it is a </a:t>
            </a:r>
            <a:r>
              <a:rPr lang="en-GB" sz="2400" b="1" dirty="0"/>
              <a:t>supervised </a:t>
            </a:r>
            <a:r>
              <a:rPr lang="en-GB" sz="2400" dirty="0"/>
              <a:t>algorithm. Clustering is an </a:t>
            </a:r>
            <a:r>
              <a:rPr lang="en-GB" sz="2400" b="1" dirty="0"/>
              <a:t>unsupervised </a:t>
            </a:r>
            <a:r>
              <a:rPr lang="en-GB" sz="2400" dirty="0"/>
              <a:t>algorithm.</a:t>
            </a:r>
          </a:p>
          <a:p>
            <a:pPr marL="342900" indent="-342900">
              <a:buFont typeface="Arial" panose="020B0604020202020204" pitchFamily="34" charset="0"/>
              <a:buChar char="•"/>
            </a:pPr>
            <a:endParaRPr lang="en-GB" sz="2400" b="1" dirty="0"/>
          </a:p>
          <a:p>
            <a:pPr marL="342900" indent="-342900">
              <a:buFont typeface="Arial" panose="020B0604020202020204" pitchFamily="34" charset="0"/>
              <a:buChar char="•"/>
            </a:pPr>
            <a:r>
              <a:rPr lang="en-GB" sz="2400" dirty="0"/>
              <a:t>KNN needs labels.</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KNN works by classifying incoming features based on what their attributes are closest too.</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K-means works by associating features together based on their attributes.</a:t>
            </a:r>
          </a:p>
        </p:txBody>
      </p:sp>
    </p:spTree>
    <p:extLst>
      <p:ext uri="{BB962C8B-B14F-4D97-AF65-F5344CB8AC3E}">
        <p14:creationId xmlns:p14="http://schemas.microsoft.com/office/powerpoint/2010/main" val="411030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5.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7.png"/>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62358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5.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6.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K-Means Clustering in Machine Learning: Algorithm &amp; Uses">
            <a:extLst>
              <a:ext uri="{FF2B5EF4-FFF2-40B4-BE49-F238E27FC236}">
                <a16:creationId xmlns:a16="http://schemas.microsoft.com/office/drawing/2014/main" id="{AB0234F6-7B85-95CB-98A3-19271975570F}"/>
              </a:ext>
            </a:extLst>
          </p:cNvPr>
          <p:cNvPicPr>
            <a:picLocks noChangeAspect="1"/>
          </p:cNvPicPr>
          <p:nvPr/>
        </p:nvPicPr>
        <p:blipFill>
          <a:blip r:embed="rId3"/>
          <a:stretch>
            <a:fillRect/>
          </a:stretch>
        </p:blipFill>
        <p:spPr>
          <a:xfrm>
            <a:off x="1139858" y="124905"/>
            <a:ext cx="9912284" cy="6608189"/>
          </a:xfrm>
          <a:prstGeom prst="rect">
            <a:avLst/>
          </a:prstGeom>
        </p:spPr>
      </p:pic>
    </p:spTree>
    <p:extLst>
      <p:ext uri="{BB962C8B-B14F-4D97-AF65-F5344CB8AC3E}">
        <p14:creationId xmlns:p14="http://schemas.microsoft.com/office/powerpoint/2010/main" val="3993729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5.png"/>
          <p:cNvPicPr>
            <a:picLocks noChangeAspect="1"/>
          </p:cNvPicPr>
          <p:nvPr/>
        </p:nvPicPr>
        <p:blipFill>
          <a:blip r:embed="rId3"/>
          <a:srcRect t="25292" b="29485"/>
          <a:stretch>
            <a:fillRect/>
          </a:stretch>
        </p:blipFill>
        <p:spPr>
          <a:xfrm>
            <a:off x="0" y="327581"/>
            <a:ext cx="12192000" cy="3101419"/>
          </a:xfrm>
          <a:prstGeom prst="rect">
            <a:avLst/>
          </a:prstGeom>
        </p:spPr>
      </p:pic>
      <p:sp>
        <p:nvSpPr>
          <p:cNvPr id="3" name="TextBox 2">
            <a:extLst>
              <a:ext uri="{FF2B5EF4-FFF2-40B4-BE49-F238E27FC236}">
                <a16:creationId xmlns:a16="http://schemas.microsoft.com/office/drawing/2014/main" id="{0EAAD3E7-5A2F-DF55-7C37-C0B0199A3327}"/>
              </a:ext>
            </a:extLst>
          </p:cNvPr>
          <p:cNvSpPr txBox="1"/>
          <p:nvPr/>
        </p:nvSpPr>
        <p:spPr>
          <a:xfrm>
            <a:off x="603315" y="4303455"/>
            <a:ext cx="10652289" cy="2554545"/>
          </a:xfrm>
          <a:prstGeom prst="rect">
            <a:avLst/>
          </a:prstGeom>
          <a:noFill/>
        </p:spPr>
        <p:txBody>
          <a:bodyPr wrap="square" rtlCol="0">
            <a:spAutoFit/>
          </a:bodyPr>
          <a:lstStyle/>
          <a:p>
            <a:r>
              <a:rPr lang="en-GB" sz="3200" dirty="0"/>
              <a:t>Remember the hyperparameters of the classification metrics?</a:t>
            </a:r>
          </a:p>
          <a:p>
            <a:endParaRPr lang="en-GB" sz="3200" dirty="0"/>
          </a:p>
          <a:p>
            <a:r>
              <a:rPr lang="en-GB" sz="3200" dirty="0">
                <a:solidFill>
                  <a:srgbClr val="FF0000"/>
                </a:solidFill>
              </a:rPr>
              <a:t>“k” </a:t>
            </a:r>
            <a:r>
              <a:rPr lang="en-GB" sz="3200" dirty="0"/>
              <a:t>in K-means clustering is the same!</a:t>
            </a:r>
            <a:br>
              <a:rPr lang="en-GB" sz="3200" dirty="0"/>
            </a:br>
            <a:br>
              <a:rPr lang="en-GB" sz="3200" dirty="0"/>
            </a:br>
            <a:endParaRPr lang="en-GB" sz="3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5.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6.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2.png"/>
          <p:cNvPicPr>
            <a:picLocks noChangeAspect="1"/>
          </p:cNvPicPr>
          <p:nvPr/>
        </p:nvPicPr>
        <p:blipFill>
          <a:blip r:embed="rId3"/>
          <a:stretch>
            <a:fillRect/>
          </a:stretch>
        </p:blipFill>
        <p:spPr>
          <a:xfrm>
            <a:off x="0" y="9427"/>
            <a:ext cx="12192000"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1.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904F0CB-B7C7-8ED7-8D9F-DD2834CD6527}"/>
              </a:ext>
            </a:extLst>
          </p:cNvPr>
          <p:cNvSpPr txBox="1"/>
          <p:nvPr/>
        </p:nvSpPr>
        <p:spPr>
          <a:xfrm>
            <a:off x="8276734" y="329938"/>
            <a:ext cx="3469064" cy="646331"/>
          </a:xfrm>
          <a:prstGeom prst="rect">
            <a:avLst/>
          </a:prstGeom>
          <a:noFill/>
        </p:spPr>
        <p:txBody>
          <a:bodyPr wrap="square" rtlCol="0">
            <a:spAutoFit/>
          </a:bodyPr>
          <a:lstStyle/>
          <a:p>
            <a:r>
              <a:rPr lang="en-GB" dirty="0">
                <a:solidFill>
                  <a:srgbClr val="FF0000"/>
                </a:solidFill>
              </a:rPr>
              <a:t>We will discuss this tomorrow, this is just an introduction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2.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61C5CB0-0AAE-F3FF-8246-8054AB8518BA}"/>
              </a:ext>
            </a:extLst>
          </p:cNvPr>
          <p:cNvSpPr txBox="1"/>
          <p:nvPr/>
        </p:nvSpPr>
        <p:spPr>
          <a:xfrm>
            <a:off x="8276734" y="329938"/>
            <a:ext cx="3469064" cy="646331"/>
          </a:xfrm>
          <a:prstGeom prst="rect">
            <a:avLst/>
          </a:prstGeom>
          <a:noFill/>
        </p:spPr>
        <p:txBody>
          <a:bodyPr wrap="square" rtlCol="0">
            <a:spAutoFit/>
          </a:bodyPr>
          <a:lstStyle/>
          <a:p>
            <a:r>
              <a:rPr lang="en-GB" dirty="0">
                <a:solidFill>
                  <a:srgbClr val="FF0000"/>
                </a:solidFill>
              </a:rPr>
              <a:t>We will discuss this tomorrow, this is just an introduction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3.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89BA37E-5047-A785-BBEB-BA332846458B}"/>
              </a:ext>
            </a:extLst>
          </p:cNvPr>
          <p:cNvSpPr txBox="1"/>
          <p:nvPr/>
        </p:nvSpPr>
        <p:spPr>
          <a:xfrm>
            <a:off x="8276734" y="329938"/>
            <a:ext cx="3469064" cy="646331"/>
          </a:xfrm>
          <a:prstGeom prst="rect">
            <a:avLst/>
          </a:prstGeom>
          <a:noFill/>
        </p:spPr>
        <p:txBody>
          <a:bodyPr wrap="square" rtlCol="0">
            <a:spAutoFit/>
          </a:bodyPr>
          <a:lstStyle/>
          <a:p>
            <a:r>
              <a:rPr lang="en-GB" dirty="0">
                <a:solidFill>
                  <a:srgbClr val="FF0000"/>
                </a:solidFill>
              </a:rPr>
              <a:t>We will discuss this tomorrow, this is just an introduction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4.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714DAC4-02E1-EE96-A866-AEB8B9B77990}"/>
              </a:ext>
            </a:extLst>
          </p:cNvPr>
          <p:cNvSpPr txBox="1"/>
          <p:nvPr/>
        </p:nvSpPr>
        <p:spPr>
          <a:xfrm>
            <a:off x="8276734" y="329938"/>
            <a:ext cx="3469064" cy="646331"/>
          </a:xfrm>
          <a:prstGeom prst="rect">
            <a:avLst/>
          </a:prstGeom>
          <a:noFill/>
        </p:spPr>
        <p:txBody>
          <a:bodyPr wrap="square" rtlCol="0">
            <a:spAutoFit/>
          </a:bodyPr>
          <a:lstStyle/>
          <a:p>
            <a:r>
              <a:rPr lang="en-GB" dirty="0">
                <a:solidFill>
                  <a:srgbClr val="FF0000"/>
                </a:solidFill>
              </a:rPr>
              <a:t>We will discuss this tomorrow, this is just an introduction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5.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7B0E225-6994-0129-C7F5-EEAEF33581D7}"/>
              </a:ext>
            </a:extLst>
          </p:cNvPr>
          <p:cNvSpPr txBox="1"/>
          <p:nvPr/>
        </p:nvSpPr>
        <p:spPr>
          <a:xfrm>
            <a:off x="8634953" y="160255"/>
            <a:ext cx="3469064" cy="646331"/>
          </a:xfrm>
          <a:prstGeom prst="rect">
            <a:avLst/>
          </a:prstGeom>
          <a:noFill/>
        </p:spPr>
        <p:txBody>
          <a:bodyPr wrap="square" rtlCol="0">
            <a:spAutoFit/>
          </a:bodyPr>
          <a:lstStyle/>
          <a:p>
            <a:r>
              <a:rPr lang="en-GB" dirty="0">
                <a:solidFill>
                  <a:srgbClr val="FF0000"/>
                </a:solidFill>
              </a:rPr>
              <a:t>We will discuss this tomorrow, this is just an introduction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6.png"/>
          <p:cNvPicPr>
            <a:picLocks noChangeAspect="1"/>
          </p:cNvPicPr>
          <p:nvPr/>
        </p:nvPicPr>
        <p:blipFill>
          <a:blip r:embed="rId3"/>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C66E6694-1B4D-7E06-3521-FD63446AD2A6}"/>
              </a:ext>
            </a:extLst>
          </p:cNvPr>
          <p:cNvSpPr txBox="1"/>
          <p:nvPr/>
        </p:nvSpPr>
        <p:spPr>
          <a:xfrm>
            <a:off x="8276734" y="329938"/>
            <a:ext cx="3469064" cy="646331"/>
          </a:xfrm>
          <a:prstGeom prst="rect">
            <a:avLst/>
          </a:prstGeom>
          <a:noFill/>
        </p:spPr>
        <p:txBody>
          <a:bodyPr wrap="square" rtlCol="0">
            <a:spAutoFit/>
          </a:bodyPr>
          <a:lstStyle/>
          <a:p>
            <a:r>
              <a:rPr lang="en-GB" dirty="0">
                <a:solidFill>
                  <a:srgbClr val="FF0000"/>
                </a:solidFill>
              </a:rPr>
              <a:t>We will discuss this tomorrow, this is just an introduction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7.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2E20518-F267-0A1A-C430-A98F2E24FC77}"/>
              </a:ext>
            </a:extLst>
          </p:cNvPr>
          <p:cNvSpPr txBox="1"/>
          <p:nvPr/>
        </p:nvSpPr>
        <p:spPr>
          <a:xfrm>
            <a:off x="8276734" y="329938"/>
            <a:ext cx="3469064" cy="646331"/>
          </a:xfrm>
          <a:prstGeom prst="rect">
            <a:avLst/>
          </a:prstGeom>
          <a:noFill/>
        </p:spPr>
        <p:txBody>
          <a:bodyPr wrap="square" rtlCol="0">
            <a:spAutoFit/>
          </a:bodyPr>
          <a:lstStyle/>
          <a:p>
            <a:r>
              <a:rPr lang="en-GB" dirty="0">
                <a:solidFill>
                  <a:srgbClr val="FF0000"/>
                </a:solidFill>
              </a:rPr>
              <a:t>We will discuss this tomorrow, this is just an introduction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2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1D1C21"/>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C8102E"/>
          </a:solidFill>
          <a:ln/>
        </p:spPr>
        <p:txBody>
          <a:bodyPr/>
          <a:lstStyle/>
          <a:p>
            <a:endParaRPr lang="en-GB"/>
          </a:p>
        </p:txBody>
      </p:sp>
      <p:pic>
        <p:nvPicPr>
          <p:cNvPr id="3" name="Image 0" descr="A grid of small coloured squares in sky blues, browns and terracotta, like enlarged pixels"/>
          <p:cNvPicPr>
            <a:picLocks noChangeAspect="1"/>
          </p:cNvPicPr>
          <p:nvPr/>
        </p:nvPicPr>
        <p:blipFill>
          <a:blip r:embed="rId3"/>
          <a:srcRect/>
          <a:stretch/>
        </p:blipFill>
        <p:spPr>
          <a:xfrm>
            <a:off x="9398000" y="711200"/>
            <a:ext cx="1905000" cy="1905000"/>
          </a:xfrm>
          <a:prstGeom prst="rect">
            <a:avLst/>
          </a:prstGeom>
        </p:spPr>
      </p:pic>
      <p:sp>
        <p:nvSpPr>
          <p:cNvPr id="4" name="Text 1"/>
          <p:cNvSpPr/>
          <p:nvPr/>
        </p:nvSpPr>
        <p:spPr>
          <a:xfrm>
            <a:off x="812800" y="812800"/>
            <a:ext cx="10883392"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F6B78"/>
                </a:solidFill>
                <a:effectLst/>
                <a:uLnTx/>
                <a:uFillTx/>
                <a:latin typeface="DM Sans" pitchFamily="34" charset="0"/>
                <a:ea typeface="DM Sans" pitchFamily="34" charset="-122"/>
                <a:cs typeface="DM Sans" pitchFamily="34" charset="-120"/>
              </a:rPr>
              <a:t>UWE BRISTOL · MACHINE LEARNING</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5" name="Text 2"/>
          <p:cNvSpPr>
            <a:spLocks noGrp="1"/>
          </p:cNvSpPr>
          <p:nvPr>
            <p:ph type="title"/>
          </p:nvPr>
        </p:nvSpPr>
        <p:spPr>
          <a:xfrm>
            <a:off x="812800" y="2207287"/>
            <a:ext cx="10883392" cy="1579827"/>
          </a:xfrm>
          <a:prstGeom prst="rect">
            <a:avLst/>
          </a:prstGeom>
          <a:noFill/>
          <a:ln/>
        </p:spPr>
        <p:txBody>
          <a:bodyPr wrap="square" lIns="0" tIns="0" rIns="0" bIns="0" rtlCol="0" anchor="t">
            <a:normAutofit/>
          </a:bodyPr>
          <a:lstStyle/>
          <a:p>
            <a:pPr marL="0" indent="0" algn="l">
              <a:lnSpc>
                <a:spcPts val="6120"/>
              </a:lnSpc>
              <a:buNone/>
            </a:pPr>
            <a:r>
              <a:rPr lang="en-US" sz="6000" b="1" i="0" kern="0" spc="-100" dirty="0">
                <a:solidFill>
                  <a:srgbClr val="F4F1EC"/>
                </a:solidFill>
                <a:latin typeface="DM Sans" pitchFamily="34" charset="0"/>
                <a:ea typeface="DM Sans" pitchFamily="34" charset="-122"/>
                <a:cs typeface="DM Sans" pitchFamily="34" charset="-120"/>
              </a:rPr>
              <a:t>Clustering the</a:t>
            </a:r>
            <a:endParaRPr lang="en-US" sz="6000" dirty="0"/>
          </a:p>
          <a:p>
            <a:pPr marL="0" indent="0" algn="l">
              <a:lnSpc>
                <a:spcPts val="6120"/>
              </a:lnSpc>
              <a:buNone/>
            </a:pPr>
            <a:r>
              <a:rPr lang="en-US" sz="6000" b="1" i="0" kern="0" spc="-100" dirty="0">
                <a:solidFill>
                  <a:srgbClr val="F4F1EC"/>
                </a:solidFill>
                <a:latin typeface="DM Sans" pitchFamily="34" charset="0"/>
                <a:ea typeface="DM Sans" pitchFamily="34" charset="-122"/>
                <a:cs typeface="DM Sans" pitchFamily="34" charset="-120"/>
              </a:rPr>
              <a:t>colours of a photo</a:t>
            </a:r>
            <a:endParaRPr lang="en-US" sz="6000" dirty="0"/>
          </a:p>
        </p:txBody>
      </p:sp>
      <p:sp>
        <p:nvSpPr>
          <p:cNvPr id="6" name="Text 3"/>
          <p:cNvSpPr/>
          <p:nvPr/>
        </p:nvSpPr>
        <p:spPr>
          <a:xfrm>
            <a:off x="812800" y="3964914"/>
            <a:ext cx="8502650" cy="711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9C4BD"/>
                </a:solidFill>
                <a:effectLst/>
                <a:uLnTx/>
                <a:uFillTx/>
                <a:latin typeface="DM Sans" pitchFamily="34" charset="0"/>
                <a:ea typeface="DM Sans" pitchFamily="34" charset="-122"/>
                <a:cs typeface="DM Sans" pitchFamily="34" charset="-120"/>
              </a:rPr>
              <a:t>How k-means turns 96,615 colours into 8, and what that shows about clustering</a:t>
            </a:r>
            <a:endParaRPr kumimoji="0" lang="en-US" sz="2000" b="0" i="0" u="none" strike="noStrike" kern="1200" cap="none" spc="0" normalizeH="0" baseline="0" noProof="0" dirty="0">
              <a:ln>
                <a:noFill/>
              </a:ln>
              <a:solidFill>
                <a:srgbClr val="1D1C21"/>
              </a:solidFill>
              <a:effectLst/>
              <a:uLnTx/>
              <a:uFillTx/>
              <a:latin typeface="DM Sans"/>
              <a:ea typeface="+mn-ea"/>
              <a:cs typeface="+mn-cs"/>
            </a:endParaRPr>
          </a:p>
        </p:txBody>
      </p:sp>
      <p:sp>
        <p:nvSpPr>
          <p:cNvPr id="7" name="Text 4"/>
          <p:cNvSpPr/>
          <p:nvPr/>
        </p:nvSpPr>
        <p:spPr>
          <a:xfrm>
            <a:off x="812800" y="5796293"/>
            <a:ext cx="10883392"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9C4BD"/>
                </a:solidFill>
                <a:effectLst/>
                <a:uLnTx/>
                <a:uFillTx/>
                <a:latin typeface="DM Sans" pitchFamily="34" charset="0"/>
                <a:ea typeface="DM Sans" pitchFamily="34" charset="-122"/>
                <a:cs typeface="DM Sans" pitchFamily="34" charset="-120"/>
              </a:rPr>
              <a:t>[Module code] · [Lecturer name] · [Date]</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8" name="Rectangle 7">
            <a:extLst>
              <a:ext uri="{FF2B5EF4-FFF2-40B4-BE49-F238E27FC236}">
                <a16:creationId xmlns:a16="http://schemas.microsoft.com/office/drawing/2014/main" id="{D01BD38A-43C5-6169-A361-A027218C9F6D}"/>
              </a:ext>
            </a:extLst>
          </p:cNvPr>
          <p:cNvSpPr/>
          <p:nvPr/>
        </p:nvSpPr>
        <p:spPr>
          <a:xfrm>
            <a:off x="735291" y="5712643"/>
            <a:ext cx="3572758" cy="357957"/>
          </a:xfrm>
          <a:prstGeom prst="rect">
            <a:avLst/>
          </a:prstGeom>
          <a:solidFill>
            <a:srgbClr val="1D1C21"/>
          </a:solidFill>
          <a:ln>
            <a:solidFill>
              <a:srgbClr val="1D1C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THE DATA</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A photo is a table of numbers</a:t>
            </a:r>
            <a:endParaRPr lang="en-US" sz="3200" dirty="0"/>
          </a:p>
        </p:txBody>
      </p:sp>
      <p:pic>
        <p:nvPicPr>
          <p:cNvPr id="5" name="Image 0" descr="The Summer Palace photo: a tall red and orange tower beside a lake with trees in the foreground. Three circles mark a sky pixel, a roof pixel and a tree pixel."/>
          <p:cNvPicPr>
            <a:picLocks noChangeAspect="1"/>
          </p:cNvPicPr>
          <p:nvPr/>
        </p:nvPicPr>
        <p:blipFill>
          <a:blip r:embed="rId3"/>
          <a:srcRect l="-63" r="-63"/>
          <a:stretch/>
        </p:blipFill>
        <p:spPr>
          <a:xfrm>
            <a:off x="812800" y="1803334"/>
            <a:ext cx="5715000" cy="3810000"/>
          </a:xfrm>
          <a:prstGeom prst="roundRect">
            <a:avLst>
              <a:gd name="adj" fmla="val 2000"/>
            </a:avLst>
          </a:prstGeom>
        </p:spPr>
      </p:pic>
      <p:sp>
        <p:nvSpPr>
          <p:cNvPr id="6" name="Text 3"/>
          <p:cNvSpPr/>
          <p:nvPr/>
        </p:nvSpPr>
        <p:spPr>
          <a:xfrm>
            <a:off x="6832600" y="2057995"/>
            <a:ext cx="4682998" cy="523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Every pixel is three numbers from 0 to 255: how much </a:t>
            </a:r>
            <a:r>
              <a:rPr kumimoji="0" lang="en-US" sz="1400" b="1" i="0" u="none" strike="noStrike" kern="1200" cap="none" spc="0" normalizeH="0" baseline="0" noProof="0" dirty="0">
                <a:ln>
                  <a:noFill/>
                </a:ln>
                <a:solidFill>
                  <a:srgbClr val="C8102E"/>
                </a:solidFill>
                <a:effectLst/>
                <a:uLnTx/>
                <a:uFillTx/>
                <a:latin typeface="DM Sans" pitchFamily="34" charset="0"/>
                <a:ea typeface="DM Sans" pitchFamily="34" charset="-122"/>
                <a:cs typeface="DM Sans" pitchFamily="34" charset="-120"/>
              </a:rPr>
              <a:t>red</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a:t>
            </a:r>
            <a:r>
              <a:rPr kumimoji="0" lang="en-US" sz="1400" b="1" i="0" u="none" strike="noStrike" kern="1200" cap="none" spc="0" normalizeH="0" baseline="0" noProof="0" dirty="0">
                <a:ln>
                  <a:noFill/>
                </a:ln>
                <a:solidFill>
                  <a:srgbClr val="1E7A52"/>
                </a:solidFill>
                <a:effectLst/>
                <a:uLnTx/>
                <a:uFillTx/>
                <a:latin typeface="DM Sans" pitchFamily="34" charset="0"/>
                <a:ea typeface="DM Sans" pitchFamily="34" charset="-122"/>
                <a:cs typeface="DM Sans" pitchFamily="34" charset="-120"/>
              </a:rPr>
              <a:t>green</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and </a:t>
            </a:r>
            <a:r>
              <a:rPr kumimoji="0" lang="en-US" sz="1400" b="1" i="0" u="none" strike="noStrike" kern="1200" cap="none" spc="0" normalizeH="0" baseline="0" noProof="0" dirty="0">
                <a:ln>
                  <a:noFill/>
                </a:ln>
                <a:solidFill>
                  <a:srgbClr val="2B5C8A"/>
                </a:solidFill>
                <a:effectLst/>
                <a:uLnTx/>
                <a:uFillTx/>
                <a:latin typeface="DM Sans" pitchFamily="34" charset="0"/>
                <a:ea typeface="DM Sans" pitchFamily="34" charset="-122"/>
                <a:cs typeface="DM Sans" pitchFamily="34" charset="-120"/>
              </a:rPr>
              <a:t>blue</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light.</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7" name="Shape 4"/>
          <p:cNvSpPr/>
          <p:nvPr/>
        </p:nvSpPr>
        <p:spPr>
          <a:xfrm>
            <a:off x="6832600" y="2695509"/>
            <a:ext cx="4546600" cy="1713177"/>
          </a:xfrm>
          <a:prstGeom prst="roundRect">
            <a:avLst>
              <a:gd name="adj" fmla="val 4448"/>
            </a:avLst>
          </a:prstGeom>
          <a:solidFill>
            <a:srgbClr val="FFFEFC"/>
          </a:solidFill>
          <a:ln/>
        </p:spPr>
        <p:txBody>
          <a:bodyPr/>
          <a:lstStyle/>
          <a:p>
            <a:endParaRPr lang="en-GB"/>
          </a:p>
        </p:txBody>
      </p:sp>
      <p:sp>
        <p:nvSpPr>
          <p:cNvPr id="8" name="Shape 5"/>
          <p:cNvSpPr/>
          <p:nvPr/>
        </p:nvSpPr>
        <p:spPr>
          <a:xfrm>
            <a:off x="6832600" y="2695509"/>
            <a:ext cx="4546600" cy="1713177"/>
          </a:xfrm>
          <a:custGeom>
            <a:avLst/>
            <a:gdLst/>
            <a:ahLst/>
            <a:cxnLst/>
            <a:rect l="l" t="t" r="r" b="b"/>
            <a:pathLst>
              <a:path w="4546600" h="1713177">
                <a:moveTo>
                  <a:pt x="4470400" y="0"/>
                </a:moveTo>
                <a:lnTo>
                  <a:pt x="4470400" y="0"/>
                </a:lnTo>
                <a:arcTo wR="76200" hR="76200" stAng="16200000" swAng="5400000"/>
                <a:lnTo>
                  <a:pt x="4546600" y="1636977"/>
                </a:lnTo>
                <a:arcTo wR="76200" hR="76200" stAng="0" swAng="5400000"/>
                <a:lnTo>
                  <a:pt x="76200" y="1713177"/>
                </a:lnTo>
                <a:arcTo wR="76200" hR="76200" stAng="5400000" swAng="5400000"/>
                <a:lnTo>
                  <a:pt x="0" y="1636977"/>
                </a:lnTo>
                <a:arcTo wR="76200" hR="69850" stAng="10800000" swAng="-5400000"/>
                <a:lnTo>
                  <a:pt x="4470400" y="1706827"/>
                </a:lnTo>
                <a:arcTo wR="69850" hR="69850" stAng="5400000" swAng="-5400000"/>
                <a:lnTo>
                  <a:pt x="4540250" y="76200"/>
                </a:lnTo>
                <a:arcTo wR="69850" hR="76200" stAng="0" swAng="-5400000"/>
                <a:close/>
              </a:path>
            </a:pathLst>
          </a:custGeom>
          <a:solidFill>
            <a:srgbClr val="E4DED6"/>
          </a:solidFill>
          <a:ln/>
        </p:spPr>
        <p:txBody>
          <a:bodyPr/>
          <a:lstStyle/>
          <a:p>
            <a:endParaRPr lang="en-GB"/>
          </a:p>
        </p:txBody>
      </p:sp>
      <p:sp>
        <p:nvSpPr>
          <p:cNvPr id="9" name="Shape 6"/>
          <p:cNvSpPr/>
          <p:nvPr/>
        </p:nvSpPr>
        <p:spPr>
          <a:xfrm>
            <a:off x="6832600" y="2695509"/>
            <a:ext cx="4546600" cy="1713177"/>
          </a:xfrm>
          <a:custGeom>
            <a:avLst/>
            <a:gdLst/>
            <a:ahLst/>
            <a:cxnLst/>
            <a:rect l="l" t="t" r="r" b="b"/>
            <a:pathLst>
              <a:path w="4546600" h="1713177">
                <a:moveTo>
                  <a:pt x="76200" y="1713177"/>
                </a:moveTo>
                <a:lnTo>
                  <a:pt x="76200" y="1713177"/>
                </a:lnTo>
                <a:arcTo wR="76200" hR="76200" stAng="5400000" swAng="5400000"/>
                <a:lnTo>
                  <a:pt x="0" y="76200"/>
                </a:lnTo>
                <a:arcTo wR="76200" hR="76200" stAng="10800000" swAng="5400000"/>
                <a:lnTo>
                  <a:pt x="4470400" y="0"/>
                </a:lnTo>
                <a:arcTo wR="76200" hR="76200" stAng="16200000" swAng="5400000"/>
                <a:lnTo>
                  <a:pt x="4546600" y="76200"/>
                </a:lnTo>
                <a:arcTo wR="76200" hR="63500" stAng="0" swAng="-5400000"/>
                <a:lnTo>
                  <a:pt x="76200" y="12700"/>
                </a:lnTo>
                <a:arcTo wR="63500" hR="63500" stAng="16200000" swAng="-5400000"/>
                <a:lnTo>
                  <a:pt x="12700" y="1636977"/>
                </a:lnTo>
                <a:arcTo wR="63500" hR="76200" stAng="10800000" swAng="-5400000"/>
                <a:close/>
              </a:path>
            </a:pathLst>
          </a:custGeom>
          <a:solidFill>
            <a:srgbClr val="141413">
              <a:alpha val="22000"/>
            </a:srgbClr>
          </a:solidFill>
          <a:ln/>
        </p:spPr>
        <p:txBody>
          <a:bodyPr/>
          <a:lstStyle/>
          <a:p>
            <a:endParaRPr lang="en-GB"/>
          </a:p>
        </p:txBody>
      </p:sp>
      <p:graphicFrame>
        <p:nvGraphicFramePr>
          <p:cNvPr id="10" name="Table 0"/>
          <p:cNvGraphicFramePr>
            <a:graphicFrameLocks noGrp="1"/>
          </p:cNvGraphicFramePr>
          <p:nvPr/>
        </p:nvGraphicFramePr>
        <p:xfrm>
          <a:off x="6959600" y="2784409"/>
          <a:ext cx="4301066" cy="1543844"/>
        </p:xfrm>
        <a:graphic>
          <a:graphicData uri="http://schemas.openxmlformats.org/drawingml/2006/table">
            <a:tbl>
              <a:tblPr/>
              <a:tblGrid>
                <a:gridCol w="516128">
                  <a:extLst>
                    <a:ext uri="{9D8B030D-6E8A-4147-A177-3AD203B41FA5}">
                      <a16:colId xmlns:a16="http://schemas.microsoft.com/office/drawing/2014/main" val="20000"/>
                    </a:ext>
                  </a:extLst>
                </a:gridCol>
                <a:gridCol w="1204299">
                  <a:extLst>
                    <a:ext uri="{9D8B030D-6E8A-4147-A177-3AD203B41FA5}">
                      <a16:colId xmlns:a16="http://schemas.microsoft.com/office/drawing/2014/main" val="20001"/>
                    </a:ext>
                  </a:extLst>
                </a:gridCol>
                <a:gridCol w="860213">
                  <a:extLst>
                    <a:ext uri="{9D8B030D-6E8A-4147-A177-3AD203B41FA5}">
                      <a16:colId xmlns:a16="http://schemas.microsoft.com/office/drawing/2014/main" val="20002"/>
                    </a:ext>
                  </a:extLst>
                </a:gridCol>
                <a:gridCol w="860213">
                  <a:extLst>
                    <a:ext uri="{9D8B030D-6E8A-4147-A177-3AD203B41FA5}">
                      <a16:colId xmlns:a16="http://schemas.microsoft.com/office/drawing/2014/main" val="20003"/>
                    </a:ext>
                  </a:extLst>
                </a:gridCol>
                <a:gridCol w="860213">
                  <a:extLst>
                    <a:ext uri="{9D8B030D-6E8A-4147-A177-3AD203B41FA5}">
                      <a16:colId xmlns:a16="http://schemas.microsoft.com/office/drawing/2014/main" val="20004"/>
                    </a:ext>
                  </a:extLst>
                </a:gridCol>
              </a:tblGrid>
              <a:tr h="385961">
                <a:tc>
                  <a:txBody>
                    <a:bodyPr/>
                    <a:lstStyle/>
                    <a:p>
                      <a:pPr marL="0" indent="0">
                        <a:lnSpc>
                          <a:spcPts val="1960"/>
                        </a:lnSpc>
                        <a:buNone/>
                      </a:pP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tc>
                  <a:txBody>
                    <a:bodyPr/>
                    <a:lstStyle/>
                    <a:p>
                      <a:pPr marL="0" indent="0">
                        <a:lnSpc>
                          <a:spcPts val="1960"/>
                        </a:lnSpc>
                        <a:buNone/>
                      </a:pPr>
                      <a:r>
                        <a:rPr lang="en-US" sz="1400" b="1" dirty="0">
                          <a:solidFill>
                            <a:srgbClr val="F4F1EC"/>
                          </a:solidFill>
                          <a:latin typeface="DM Sans" pitchFamily="34" charset="0"/>
                          <a:ea typeface="DM Sans" pitchFamily="34" charset="-122"/>
                          <a:cs typeface="DM Sans" pitchFamily="34" charset="-120"/>
                        </a:rPr>
                        <a:t>Pixel</a:t>
                      </a:r>
                      <a:endParaRPr lang="en-US" sz="1400" dirty="0">
                        <a:latin typeface="DM Sans" charset="0"/>
                        <a:ea typeface="DM Sans" charset="0"/>
                        <a:cs typeface="DM Sans" charset="0"/>
                      </a:endParaRPr>
                    </a:p>
                  </a:txBody>
                  <a:tcPr marL="62230" marR="62230" marT="62230" marB="62230">
                    <a:lnL w="12700" cap="flat" cmpd="sng" algn="ctr">
                      <a:solidFill>
                        <a:srgbClr val="1B1A1E"/>
                      </a:solidFill>
                      <a:prstDash val="solid"/>
                      <a:round/>
                      <a:headEnd type="none" w="med" len="med"/>
                      <a:tailEnd type="none" w="med" len="med"/>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tc>
                  <a:txBody>
                    <a:bodyPr/>
                    <a:lstStyle/>
                    <a:p>
                      <a:pPr marL="0" indent="0">
                        <a:lnSpc>
                          <a:spcPts val="1960"/>
                        </a:lnSpc>
                        <a:buNone/>
                      </a:pPr>
                      <a:r>
                        <a:rPr lang="en-US" sz="1400" b="1" dirty="0">
                          <a:solidFill>
                            <a:srgbClr val="FF6B78"/>
                          </a:solidFill>
                          <a:latin typeface="DM Sans" pitchFamily="34" charset="0"/>
                          <a:ea typeface="DM Sans" pitchFamily="34" charset="-122"/>
                          <a:cs typeface="DM Sans" pitchFamily="34" charset="-120"/>
                        </a:rPr>
                        <a:t>R</a:t>
                      </a:r>
                      <a:endParaRPr lang="en-US" sz="1400" dirty="0">
                        <a:latin typeface="DM Sans" charset="0"/>
                        <a:ea typeface="DM Sans" charset="0"/>
                        <a:cs typeface="DM Sans" charset="0"/>
                      </a:endParaRPr>
                    </a:p>
                  </a:txBody>
                  <a:tcPr marL="62230" marR="62230" marT="62230" marB="62230">
                    <a:lnL w="12700" cap="flat" cmpd="sng" algn="ctr">
                      <a:solidFill>
                        <a:srgbClr val="1B1A1E"/>
                      </a:solidFill>
                      <a:prstDash val="solid"/>
                      <a:round/>
                      <a:headEnd type="none" w="med" len="med"/>
                      <a:tailEnd type="none" w="med" len="med"/>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tc>
                  <a:txBody>
                    <a:bodyPr/>
                    <a:lstStyle/>
                    <a:p>
                      <a:pPr marL="0" indent="0">
                        <a:lnSpc>
                          <a:spcPts val="1960"/>
                        </a:lnSpc>
                        <a:buNone/>
                      </a:pPr>
                      <a:r>
                        <a:rPr lang="en-US" sz="1400" b="1" dirty="0">
                          <a:solidFill>
                            <a:srgbClr val="8FD9B4"/>
                          </a:solidFill>
                          <a:latin typeface="DM Sans" pitchFamily="34" charset="0"/>
                          <a:ea typeface="DM Sans" pitchFamily="34" charset="-122"/>
                          <a:cs typeface="DM Sans" pitchFamily="34" charset="-120"/>
                        </a:rPr>
                        <a:t>G</a:t>
                      </a:r>
                      <a:endParaRPr lang="en-US" sz="1400" dirty="0">
                        <a:latin typeface="DM Sans" charset="0"/>
                        <a:ea typeface="DM Sans" charset="0"/>
                        <a:cs typeface="DM Sans" charset="0"/>
                      </a:endParaRPr>
                    </a:p>
                  </a:txBody>
                  <a:tcPr marL="62230" marR="62230" marT="62230" marB="62230">
                    <a:lnL w="12700" cap="flat" cmpd="sng" algn="ctr">
                      <a:solidFill>
                        <a:srgbClr val="1B1A1E"/>
                      </a:solidFill>
                      <a:prstDash val="solid"/>
                      <a:round/>
                      <a:headEnd type="none" w="med" len="med"/>
                      <a:tailEnd type="none" w="med" len="med"/>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tc>
                  <a:txBody>
                    <a:bodyPr/>
                    <a:lstStyle/>
                    <a:p>
                      <a:pPr marL="0" indent="0">
                        <a:lnSpc>
                          <a:spcPts val="1960"/>
                        </a:lnSpc>
                        <a:buNone/>
                      </a:pPr>
                      <a:r>
                        <a:rPr lang="en-US" sz="1400" b="1" dirty="0">
                          <a:solidFill>
                            <a:srgbClr val="8FB4D9"/>
                          </a:solidFill>
                          <a:latin typeface="DM Sans" pitchFamily="34" charset="0"/>
                          <a:ea typeface="DM Sans" pitchFamily="34" charset="-122"/>
                          <a:cs typeface="DM Sans" pitchFamily="34" charset="-120"/>
                        </a:rPr>
                        <a:t>B</a:t>
                      </a:r>
                      <a:endParaRPr lang="en-US" sz="1400" dirty="0">
                        <a:latin typeface="DM Sans" charset="0"/>
                        <a:ea typeface="DM Sans" charset="0"/>
                        <a:cs typeface="DM Sans" charset="0"/>
                      </a:endParaRPr>
                    </a:p>
                  </a:txBody>
                  <a:tcPr marL="62230" marR="62230" marT="62230" marB="62230">
                    <a:lnL w="12700" cap="flat" cmpd="sng" algn="ctr">
                      <a:solidFill>
                        <a:srgbClr val="1B1A1E"/>
                      </a:solidFill>
                      <a:prstDash val="solid"/>
                      <a:round/>
                      <a:headEnd type="none" w="med" len="med"/>
                      <a:tailEnd type="none" w="med" len="med"/>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1</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Sky</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238</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245</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255</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2</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Roof</a:t>
                      </a:r>
                      <a:endParaRPr lang="en-US" sz="1400" dirty="0">
                        <a:latin typeface="DM Sans" charset="0"/>
                        <a:ea typeface="DM Sans" charset="0"/>
                        <a:cs typeface="DM Sans" charset="0"/>
                      </a:endParaRPr>
                    </a:p>
                  </a:txBody>
                  <a:tcPr marL="62230" marR="62230" marT="62230" marB="62230">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215</a:t>
                      </a:r>
                      <a:endParaRPr lang="en-US" sz="1400" dirty="0">
                        <a:latin typeface="DM Sans" charset="0"/>
                        <a:ea typeface="DM Sans" charset="0"/>
                        <a:cs typeface="DM Sans" charset="0"/>
                      </a:endParaRPr>
                    </a:p>
                  </a:txBody>
                  <a:tcPr marL="62230" marR="62230" marT="62230" marB="62230">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75</a:t>
                      </a:r>
                      <a:endParaRPr lang="en-US" sz="1400" dirty="0">
                        <a:latin typeface="DM Sans" charset="0"/>
                        <a:ea typeface="DM Sans" charset="0"/>
                        <a:cs typeface="DM Sans" charset="0"/>
                      </a:endParaRPr>
                    </a:p>
                  </a:txBody>
                  <a:tcPr marL="62230" marR="62230" marT="62230" marB="62230">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24</a:t>
                      </a:r>
                      <a:endParaRPr lang="en-US" sz="1400" dirty="0">
                        <a:latin typeface="DM Sans" charset="0"/>
                        <a:ea typeface="DM Sans" charset="0"/>
                        <a:cs typeface="DM Sans" charset="0"/>
                      </a:endParaRPr>
                    </a:p>
                  </a:txBody>
                  <a:tcPr marL="62230" marR="62230" marT="62230" marB="62230">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3</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Tree</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144</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161</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1960"/>
                        </a:lnSpc>
                        <a:buNone/>
                      </a:pPr>
                      <a:r>
                        <a:rPr lang="en-US" sz="1400" dirty="0">
                          <a:solidFill>
                            <a:srgbClr val="1D1C21"/>
                          </a:solidFill>
                          <a:latin typeface="DM Sans" pitchFamily="34" charset="0"/>
                          <a:ea typeface="DM Sans" pitchFamily="34" charset="-122"/>
                          <a:cs typeface="DM Sans" pitchFamily="34" charset="-120"/>
                        </a:rPr>
                        <a:t>47</a:t>
                      </a:r>
                      <a:endParaRPr lang="en-US" sz="1400" dirty="0">
                        <a:latin typeface="DM Sans" charset="0"/>
                        <a:ea typeface="DM Sans" charset="0"/>
                        <a:cs typeface="DM Sans" charset="0"/>
                      </a:endParaRPr>
                    </a:p>
                  </a:txBody>
                  <a:tcPr marL="62230" marR="62230" marT="62230" marB="62230">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Shape 7"/>
          <p:cNvSpPr/>
          <p:nvPr/>
        </p:nvSpPr>
        <p:spPr>
          <a:xfrm>
            <a:off x="6832600" y="4548386"/>
            <a:ext cx="2209800" cy="810220"/>
          </a:xfrm>
          <a:prstGeom prst="roundRect">
            <a:avLst>
              <a:gd name="adj" fmla="val 9405"/>
            </a:avLst>
          </a:prstGeom>
          <a:solidFill>
            <a:srgbClr val="F1EDE7"/>
          </a:solidFill>
          <a:ln/>
        </p:spPr>
        <p:txBody>
          <a:bodyPr/>
          <a:lstStyle/>
          <a:p>
            <a:endParaRPr lang="en-GB"/>
          </a:p>
        </p:txBody>
      </p:sp>
      <p:sp>
        <p:nvSpPr>
          <p:cNvPr id="12" name="Text 8"/>
          <p:cNvSpPr/>
          <p:nvPr/>
        </p:nvSpPr>
        <p:spPr>
          <a:xfrm>
            <a:off x="6972300" y="4662686"/>
            <a:ext cx="198831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Rows (pixels)</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3" name="Text 9"/>
          <p:cNvSpPr/>
          <p:nvPr/>
        </p:nvSpPr>
        <p:spPr>
          <a:xfrm>
            <a:off x="6972300" y="4888706"/>
            <a:ext cx="1988312"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273,280</a:t>
            </a:r>
            <a:endParaRPr kumimoji="0" lang="en-US" sz="20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4" name="Shape 10"/>
          <p:cNvSpPr/>
          <p:nvPr/>
        </p:nvSpPr>
        <p:spPr>
          <a:xfrm>
            <a:off x="9169400" y="4548386"/>
            <a:ext cx="2209800" cy="810220"/>
          </a:xfrm>
          <a:prstGeom prst="roundRect">
            <a:avLst>
              <a:gd name="adj" fmla="val 9405"/>
            </a:avLst>
          </a:prstGeom>
          <a:solidFill>
            <a:srgbClr val="F1EDE7"/>
          </a:solidFill>
          <a:ln/>
        </p:spPr>
        <p:txBody>
          <a:bodyPr/>
          <a:lstStyle/>
          <a:p>
            <a:endParaRPr lang="en-GB"/>
          </a:p>
        </p:txBody>
      </p:sp>
      <p:sp>
        <p:nvSpPr>
          <p:cNvPr id="15" name="Text 11"/>
          <p:cNvSpPr/>
          <p:nvPr/>
        </p:nvSpPr>
        <p:spPr>
          <a:xfrm>
            <a:off x="9309100" y="4662686"/>
            <a:ext cx="198831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Different colours</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6" name="Text 12"/>
          <p:cNvSpPr/>
          <p:nvPr/>
        </p:nvSpPr>
        <p:spPr>
          <a:xfrm>
            <a:off x="9309100" y="4888706"/>
            <a:ext cx="1988312"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96,615</a:t>
            </a:r>
            <a:endParaRPr kumimoji="0" lang="en-US" sz="20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7" name="Text 13"/>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THE DATA</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Every pixel becomes a point in a colour cube</a:t>
            </a:r>
            <a:endParaRPr lang="en-US" sz="3200" dirty="0"/>
          </a:p>
        </p:txBody>
      </p:sp>
      <p:pic>
        <p:nvPicPr>
          <p:cNvPr id="5" name="Image 0" descr="A 3D scatter plot with red, green and blue axes from 0 to 255. Four thousand pixels are drawn in their own colours. They form a long cloud from black at one corner to pale sky blue at the opposite corner, with orange and red points spreading off to one side."/>
          <p:cNvPicPr>
            <a:picLocks noChangeAspect="1"/>
          </p:cNvPicPr>
          <p:nvPr/>
        </p:nvPicPr>
        <p:blipFill>
          <a:blip r:embed="rId3"/>
          <a:stretch>
            <a:fillRect/>
          </a:stretch>
        </p:blipFill>
        <p:spPr>
          <a:xfrm>
            <a:off x="812800" y="1802332"/>
            <a:ext cx="4572000" cy="3850105"/>
          </a:xfrm>
          <a:custGeom>
            <a:avLst/>
            <a:gdLst/>
            <a:ahLst/>
            <a:cxnLst/>
            <a:rect l="l" t="t" r="r" b="b"/>
            <a:pathLst>
              <a:path w="4572000" h="3850105">
                <a:moveTo>
                  <a:pt x="0" y="1003"/>
                </a:moveTo>
                <a:arcTo wR="76200" hR="76200" stAng="10800000" swAng="45235"/>
                <a:lnTo>
                  <a:pt x="4571993" y="0"/>
                </a:lnTo>
                <a:arcTo wR="76200" hR="76200" stAng="21554765" swAng="45235"/>
                <a:lnTo>
                  <a:pt x="4572000" y="3849103"/>
                </a:lnTo>
                <a:arcTo wR="76200" hR="76200" stAng="0" swAng="45235"/>
                <a:lnTo>
                  <a:pt x="7" y="3850105"/>
                </a:lnTo>
                <a:arcTo wR="76200" hR="76200" stAng="10754765" swAng="45235"/>
                <a:close/>
              </a:path>
            </a:pathLst>
          </a:custGeom>
        </p:spPr>
      </p:pic>
      <p:sp>
        <p:nvSpPr>
          <p:cNvPr id="6" name="Text 3"/>
          <p:cNvSpPr/>
          <p:nvPr/>
        </p:nvSpPr>
        <p:spPr>
          <a:xfrm>
            <a:off x="5740400" y="2550120"/>
            <a:ext cx="5807964" cy="523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Use red, green and blue as the three axes. Each pixel is a dot, drawn in its own colour.</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7" name="Text 4"/>
          <p:cNvSpPr/>
          <p:nvPr/>
        </p:nvSpPr>
        <p:spPr>
          <a:xfrm>
            <a:off x="5740400" y="3187635"/>
            <a:ext cx="5807964" cy="523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Similar colours end up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close together</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the sky pixels sit together in one corner, the dark shadows in the opposite one.</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8" name="Text 5"/>
          <p:cNvSpPr/>
          <p:nvPr/>
        </p:nvSpPr>
        <p:spPr>
          <a:xfrm>
            <a:off x="5740400" y="3825148"/>
            <a:ext cx="5638800" cy="726414"/>
          </a:xfrm>
          <a:prstGeom prst="roundRect">
            <a:avLst>
              <a:gd name="adj" fmla="val 8742"/>
            </a:avLst>
          </a:prstGeom>
          <a:solidFill>
            <a:srgbClr val="F1EDE7"/>
          </a:solidFill>
          <a:ln/>
        </p:spPr>
        <p:txBody>
          <a:bodyPr wrap="square" lIns="121101" tIns="95701" rIns="0" bIns="70301"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Where a pixel is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in the photo</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is thrown away. Only its colour matters.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9" name="Text 6"/>
          <p:cNvSpPr/>
          <p:nvPr/>
        </p:nvSpPr>
        <p:spPr>
          <a:xfrm>
            <a:off x="5740400" y="4691261"/>
            <a:ext cx="5807964"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4,000 randomly chosen pixels shown.</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0" name="Text 7"/>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CLUSTERING</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K-means splits the cube into 8 groups</a:t>
            </a:r>
            <a:endParaRPr lang="en-US" sz="3200" dirty="0"/>
          </a:p>
        </p:txBody>
      </p:sp>
      <p:pic>
        <p:nvPicPr>
          <p:cNvPr id="5" name="Image 0" descr="The same colour cube, but each pixel is now drawn in the colour of its cluster centre, giving eight bands of colour along the cloud. Large crosses mark the eight centres."/>
          <p:cNvPicPr>
            <a:picLocks noChangeAspect="1"/>
          </p:cNvPicPr>
          <p:nvPr/>
        </p:nvPicPr>
        <p:blipFill>
          <a:blip r:embed="rId3"/>
          <a:stretch>
            <a:fillRect/>
          </a:stretch>
        </p:blipFill>
        <p:spPr>
          <a:xfrm>
            <a:off x="812800" y="1802332"/>
            <a:ext cx="4572000" cy="3850105"/>
          </a:xfrm>
          <a:custGeom>
            <a:avLst/>
            <a:gdLst/>
            <a:ahLst/>
            <a:cxnLst/>
            <a:rect l="l" t="t" r="r" b="b"/>
            <a:pathLst>
              <a:path w="4572000" h="3850105">
                <a:moveTo>
                  <a:pt x="0" y="1003"/>
                </a:moveTo>
                <a:arcTo wR="76200" hR="76200" stAng="10800000" swAng="45235"/>
                <a:lnTo>
                  <a:pt x="4571993" y="0"/>
                </a:lnTo>
                <a:arcTo wR="76200" hR="76200" stAng="21554765" swAng="45235"/>
                <a:lnTo>
                  <a:pt x="4572000" y="3849103"/>
                </a:lnTo>
                <a:arcTo wR="76200" hR="76200" stAng="0" swAng="45235"/>
                <a:lnTo>
                  <a:pt x="7" y="3850105"/>
                </a:lnTo>
                <a:arcTo wR="76200" hR="76200" stAng="10754765" swAng="45235"/>
                <a:close/>
              </a:path>
            </a:pathLst>
          </a:custGeom>
        </p:spPr>
      </p:pic>
      <p:sp>
        <p:nvSpPr>
          <p:cNvPr id="6" name="Text 3"/>
          <p:cNvSpPr/>
          <p:nvPr/>
        </p:nvSpPr>
        <p:spPr>
          <a:xfrm>
            <a:off x="5740400" y="2783351"/>
            <a:ext cx="5807964"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With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k = 8</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k-means repeats its two steps on the pixels: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7" name="Shape 4"/>
          <p:cNvSpPr/>
          <p:nvPr/>
        </p:nvSpPr>
        <p:spPr>
          <a:xfrm>
            <a:off x="5743575" y="3175133"/>
            <a:ext cx="5632450" cy="1104437"/>
          </a:xfrm>
          <a:prstGeom prst="roundRect">
            <a:avLst>
              <a:gd name="adj" fmla="val 6612"/>
            </a:avLst>
          </a:prstGeom>
          <a:solidFill>
            <a:srgbClr val="FFFEFC"/>
          </a:solidFill>
          <a:ln w="6350">
            <a:solidFill>
              <a:srgbClr val="E4DED6"/>
            </a:solidFill>
            <a:prstDash val="solid"/>
          </a:ln>
        </p:spPr>
        <p:txBody>
          <a:bodyPr/>
          <a:lstStyle/>
          <a:p>
            <a:endParaRPr lang="en-GB"/>
          </a:p>
        </p:txBody>
      </p:sp>
      <p:sp>
        <p:nvSpPr>
          <p:cNvPr id="8" name="Text 5"/>
          <p:cNvSpPr/>
          <p:nvPr/>
        </p:nvSpPr>
        <p:spPr>
          <a:xfrm>
            <a:off x="5909733" y="3315891"/>
            <a:ext cx="5459137" cy="523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Assign:</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each pixel joins the centre with the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most similar colour</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9" name="Text 6"/>
          <p:cNvSpPr/>
          <p:nvPr/>
        </p:nvSpPr>
        <p:spPr>
          <a:xfrm>
            <a:off x="5909733" y="3889905"/>
            <a:ext cx="5463117"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Update:</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each centre moves to the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average colour</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of its pixels.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0" name="Text 7"/>
          <p:cNvSpPr/>
          <p:nvPr/>
        </p:nvSpPr>
        <p:spPr>
          <a:xfrm>
            <a:off x="5740400" y="4422445"/>
            <a:ext cx="6451600"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The crosses are the 8 final centres. Each one is an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average colour</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REPAINTING</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Every pixel takes its centre's colour</a:t>
            </a:r>
            <a:endParaRPr lang="en-US" sz="3200" dirty="0"/>
          </a:p>
        </p:txBody>
      </p:sp>
      <p:sp>
        <p:nvSpPr>
          <p:cNvPr id="5" name="Shape 3"/>
          <p:cNvSpPr/>
          <p:nvPr/>
        </p:nvSpPr>
        <p:spPr>
          <a:xfrm>
            <a:off x="815975" y="1806510"/>
            <a:ext cx="10560050" cy="713317"/>
          </a:xfrm>
          <a:prstGeom prst="roundRect">
            <a:avLst>
              <a:gd name="adj" fmla="val 10237"/>
            </a:avLst>
          </a:prstGeom>
          <a:solidFill>
            <a:srgbClr val="FFFEFC"/>
          </a:solidFill>
          <a:ln w="6350">
            <a:solidFill>
              <a:srgbClr val="E4DED6"/>
            </a:solidFill>
            <a:prstDash val="solid"/>
          </a:ln>
        </p:spPr>
        <p:txBody>
          <a:bodyPr/>
          <a:lstStyle/>
          <a:p>
            <a:endParaRPr lang="en-GB"/>
          </a:p>
        </p:txBody>
      </p:sp>
      <p:sp>
        <p:nvSpPr>
          <p:cNvPr id="6" name="Text 4"/>
          <p:cNvSpPr/>
          <p:nvPr/>
        </p:nvSpPr>
        <p:spPr>
          <a:xfrm>
            <a:off x="994833" y="2029817"/>
            <a:ext cx="749300" cy="2921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Sky</a:t>
            </a:r>
            <a:endParaRPr kumimoji="0" lang="en-US" sz="1500" b="0" i="0" u="none" strike="noStrike" kern="1200" cap="none" spc="0" normalizeH="0" baseline="0" noProof="0" dirty="0">
              <a:ln>
                <a:noFill/>
              </a:ln>
              <a:solidFill>
                <a:srgbClr val="1D1C21"/>
              </a:solidFill>
              <a:effectLst/>
              <a:uLnTx/>
              <a:uFillTx/>
              <a:latin typeface="DM Sans"/>
              <a:ea typeface="+mn-ea"/>
              <a:cs typeface="+mn-cs"/>
            </a:endParaRPr>
          </a:p>
        </p:txBody>
      </p:sp>
      <p:sp>
        <p:nvSpPr>
          <p:cNvPr id="7" name="Shape 5"/>
          <p:cNvSpPr/>
          <p:nvPr/>
        </p:nvSpPr>
        <p:spPr>
          <a:xfrm>
            <a:off x="1848908" y="1937742"/>
            <a:ext cx="450850" cy="450850"/>
          </a:xfrm>
          <a:prstGeom prst="roundRect">
            <a:avLst>
              <a:gd name="adj" fmla="val 10563"/>
            </a:avLst>
          </a:prstGeom>
          <a:solidFill>
            <a:srgbClr val="EEF5FF"/>
          </a:solidFill>
          <a:ln w="6350">
            <a:solidFill>
              <a:srgbClr val="C9C4BD"/>
            </a:solidFill>
            <a:prstDash val="solid"/>
          </a:ln>
        </p:spPr>
        <p:txBody>
          <a:bodyPr/>
          <a:lstStyle/>
          <a:p>
            <a:endParaRPr lang="en-GB"/>
          </a:p>
        </p:txBody>
      </p:sp>
      <p:sp>
        <p:nvSpPr>
          <p:cNvPr id="8" name="Text 6"/>
          <p:cNvSpPr/>
          <p:nvPr/>
        </p:nvSpPr>
        <p:spPr>
          <a:xfrm>
            <a:off x="2455333" y="2047611"/>
            <a:ext cx="163830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D1C21"/>
                </a:solidFill>
                <a:effectLst/>
                <a:uLnTx/>
                <a:uFillTx/>
                <a:latin typeface="JetBrains Mono" pitchFamily="49" charset="0"/>
                <a:ea typeface="JetBrains Mono" pitchFamily="49" charset="-122"/>
                <a:cs typeface="JetBrains Mono" pitchFamily="49" charset="-120"/>
              </a:rPr>
              <a:t>(238, 245, 255)</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9" name="Text 7"/>
          <p:cNvSpPr/>
          <p:nvPr/>
        </p:nvSpPr>
        <p:spPr>
          <a:xfrm>
            <a:off x="4195233" y="1985367"/>
            <a:ext cx="304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a:t>
            </a:r>
            <a:endParaRPr kumimoji="0" lang="en-US" sz="20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0" name="Shape 8"/>
          <p:cNvSpPr/>
          <p:nvPr/>
        </p:nvSpPr>
        <p:spPr>
          <a:xfrm>
            <a:off x="4604808" y="1937742"/>
            <a:ext cx="450850" cy="450850"/>
          </a:xfrm>
          <a:prstGeom prst="roundRect">
            <a:avLst>
              <a:gd name="adj" fmla="val 10563"/>
            </a:avLst>
          </a:prstGeom>
          <a:solidFill>
            <a:srgbClr val="E9F0F9"/>
          </a:solidFill>
          <a:ln w="6350">
            <a:solidFill>
              <a:srgbClr val="C9C4BD"/>
            </a:solidFill>
            <a:prstDash val="solid"/>
          </a:ln>
        </p:spPr>
        <p:txBody>
          <a:bodyPr/>
          <a:lstStyle/>
          <a:p>
            <a:endParaRPr lang="en-GB"/>
          </a:p>
        </p:txBody>
      </p:sp>
      <p:sp>
        <p:nvSpPr>
          <p:cNvPr id="11" name="Text 9"/>
          <p:cNvSpPr/>
          <p:nvPr/>
        </p:nvSpPr>
        <p:spPr>
          <a:xfrm>
            <a:off x="5211233" y="2047611"/>
            <a:ext cx="163830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D1C21"/>
                </a:solidFill>
                <a:effectLst/>
                <a:uLnTx/>
                <a:uFillTx/>
                <a:latin typeface="JetBrains Mono" pitchFamily="49" charset="0"/>
                <a:ea typeface="JetBrains Mono" pitchFamily="49" charset="-122"/>
                <a:cs typeface="JetBrains Mono" pitchFamily="49" charset="-120"/>
              </a:rPr>
              <a:t>(233, 240, 249)</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2" name="Text 10"/>
          <p:cNvSpPr/>
          <p:nvPr/>
        </p:nvSpPr>
        <p:spPr>
          <a:xfrm>
            <a:off x="6951134" y="2047611"/>
            <a:ext cx="4373414"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Almost unchanged</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3" name="Shape 11"/>
          <p:cNvSpPr/>
          <p:nvPr/>
        </p:nvSpPr>
        <p:spPr>
          <a:xfrm>
            <a:off x="815975" y="2640478"/>
            <a:ext cx="10560050" cy="713317"/>
          </a:xfrm>
          <a:prstGeom prst="roundRect">
            <a:avLst>
              <a:gd name="adj" fmla="val 10237"/>
            </a:avLst>
          </a:prstGeom>
          <a:solidFill>
            <a:srgbClr val="FFFEFC"/>
          </a:solidFill>
          <a:ln w="6350">
            <a:solidFill>
              <a:srgbClr val="E4DED6"/>
            </a:solidFill>
            <a:prstDash val="solid"/>
          </a:ln>
        </p:spPr>
        <p:txBody>
          <a:bodyPr/>
          <a:lstStyle/>
          <a:p>
            <a:endParaRPr lang="en-GB"/>
          </a:p>
        </p:txBody>
      </p:sp>
      <p:sp>
        <p:nvSpPr>
          <p:cNvPr id="14" name="Text 12"/>
          <p:cNvSpPr/>
          <p:nvPr/>
        </p:nvSpPr>
        <p:spPr>
          <a:xfrm>
            <a:off x="994833" y="2863785"/>
            <a:ext cx="749300" cy="2921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Roof</a:t>
            </a:r>
            <a:endParaRPr kumimoji="0" lang="en-US" sz="15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5" name="Shape 13"/>
          <p:cNvSpPr/>
          <p:nvPr/>
        </p:nvSpPr>
        <p:spPr>
          <a:xfrm>
            <a:off x="1848908" y="2771710"/>
            <a:ext cx="450850" cy="450850"/>
          </a:xfrm>
          <a:prstGeom prst="roundRect">
            <a:avLst>
              <a:gd name="adj" fmla="val 10563"/>
            </a:avLst>
          </a:prstGeom>
          <a:solidFill>
            <a:srgbClr val="D74B18"/>
          </a:solidFill>
          <a:ln w="6350">
            <a:solidFill>
              <a:srgbClr val="C9C4BD"/>
            </a:solidFill>
            <a:prstDash val="solid"/>
          </a:ln>
        </p:spPr>
        <p:txBody>
          <a:bodyPr/>
          <a:lstStyle/>
          <a:p>
            <a:endParaRPr lang="en-GB"/>
          </a:p>
        </p:txBody>
      </p:sp>
      <p:sp>
        <p:nvSpPr>
          <p:cNvPr id="16" name="Text 14"/>
          <p:cNvSpPr/>
          <p:nvPr/>
        </p:nvSpPr>
        <p:spPr>
          <a:xfrm>
            <a:off x="2455333" y="2881579"/>
            <a:ext cx="163830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D1C21"/>
                </a:solidFill>
                <a:effectLst/>
                <a:uLnTx/>
                <a:uFillTx/>
                <a:latin typeface="JetBrains Mono" pitchFamily="49" charset="0"/>
                <a:ea typeface="JetBrains Mono" pitchFamily="49" charset="-122"/>
                <a:cs typeface="JetBrains Mono" pitchFamily="49" charset="-120"/>
              </a:rPr>
              <a:t>(215, 75, 24)</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7" name="Text 15"/>
          <p:cNvSpPr/>
          <p:nvPr/>
        </p:nvSpPr>
        <p:spPr>
          <a:xfrm>
            <a:off x="4195233" y="2819335"/>
            <a:ext cx="304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a:t>
            </a:r>
            <a:endParaRPr kumimoji="0" lang="en-US" sz="20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8" name="Shape 16"/>
          <p:cNvSpPr/>
          <p:nvPr/>
        </p:nvSpPr>
        <p:spPr>
          <a:xfrm>
            <a:off x="4604808" y="2771710"/>
            <a:ext cx="450850" cy="450850"/>
          </a:xfrm>
          <a:prstGeom prst="roundRect">
            <a:avLst>
              <a:gd name="adj" fmla="val 10563"/>
            </a:avLst>
          </a:prstGeom>
          <a:solidFill>
            <a:srgbClr val="CB926B"/>
          </a:solidFill>
          <a:ln w="6350">
            <a:solidFill>
              <a:srgbClr val="C9C4BD"/>
            </a:solidFill>
            <a:prstDash val="solid"/>
          </a:ln>
        </p:spPr>
        <p:txBody>
          <a:bodyPr/>
          <a:lstStyle/>
          <a:p>
            <a:endParaRPr lang="en-GB"/>
          </a:p>
        </p:txBody>
      </p:sp>
      <p:sp>
        <p:nvSpPr>
          <p:cNvPr id="19" name="Text 17"/>
          <p:cNvSpPr/>
          <p:nvPr/>
        </p:nvSpPr>
        <p:spPr>
          <a:xfrm>
            <a:off x="5211233" y="2881579"/>
            <a:ext cx="163830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D1C21"/>
                </a:solidFill>
                <a:effectLst/>
                <a:uLnTx/>
                <a:uFillTx/>
                <a:latin typeface="JetBrains Mono" pitchFamily="49" charset="0"/>
                <a:ea typeface="JetBrains Mono" pitchFamily="49" charset="-122"/>
                <a:cs typeface="JetBrains Mono" pitchFamily="49" charset="-120"/>
              </a:rPr>
              <a:t>(203, 146, 107)</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0" name="Text 18"/>
          <p:cNvSpPr/>
          <p:nvPr/>
        </p:nvSpPr>
        <p:spPr>
          <a:xfrm>
            <a:off x="6951134" y="2881579"/>
            <a:ext cx="4373414"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Duller, more orange</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1" name="Shape 19"/>
          <p:cNvSpPr/>
          <p:nvPr/>
        </p:nvSpPr>
        <p:spPr>
          <a:xfrm>
            <a:off x="815975" y="3474442"/>
            <a:ext cx="10560050" cy="713317"/>
          </a:xfrm>
          <a:prstGeom prst="roundRect">
            <a:avLst>
              <a:gd name="adj" fmla="val 10237"/>
            </a:avLst>
          </a:prstGeom>
          <a:solidFill>
            <a:srgbClr val="FFFEFC"/>
          </a:solidFill>
          <a:ln w="6350">
            <a:solidFill>
              <a:srgbClr val="E4DED6"/>
            </a:solidFill>
            <a:prstDash val="solid"/>
          </a:ln>
        </p:spPr>
        <p:txBody>
          <a:bodyPr/>
          <a:lstStyle/>
          <a:p>
            <a:endParaRPr lang="en-GB"/>
          </a:p>
        </p:txBody>
      </p:sp>
      <p:sp>
        <p:nvSpPr>
          <p:cNvPr id="22" name="Text 20"/>
          <p:cNvSpPr/>
          <p:nvPr/>
        </p:nvSpPr>
        <p:spPr>
          <a:xfrm>
            <a:off x="994833" y="3697753"/>
            <a:ext cx="749300" cy="2921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Tree</a:t>
            </a:r>
            <a:endParaRPr kumimoji="0" lang="en-US" sz="15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3" name="Shape 21"/>
          <p:cNvSpPr/>
          <p:nvPr/>
        </p:nvSpPr>
        <p:spPr>
          <a:xfrm>
            <a:off x="1848908" y="3605678"/>
            <a:ext cx="450850" cy="450850"/>
          </a:xfrm>
          <a:prstGeom prst="roundRect">
            <a:avLst>
              <a:gd name="adj" fmla="val 10563"/>
            </a:avLst>
          </a:prstGeom>
          <a:solidFill>
            <a:srgbClr val="90A12F"/>
          </a:solidFill>
          <a:ln w="6350">
            <a:solidFill>
              <a:srgbClr val="C9C4BD"/>
            </a:solidFill>
            <a:prstDash val="solid"/>
          </a:ln>
        </p:spPr>
        <p:txBody>
          <a:bodyPr/>
          <a:lstStyle/>
          <a:p>
            <a:endParaRPr lang="en-GB"/>
          </a:p>
        </p:txBody>
      </p:sp>
      <p:sp>
        <p:nvSpPr>
          <p:cNvPr id="24" name="Text 22"/>
          <p:cNvSpPr/>
          <p:nvPr/>
        </p:nvSpPr>
        <p:spPr>
          <a:xfrm>
            <a:off x="2455333" y="3715544"/>
            <a:ext cx="163830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D1C21"/>
                </a:solidFill>
                <a:effectLst/>
                <a:uLnTx/>
                <a:uFillTx/>
                <a:latin typeface="JetBrains Mono" pitchFamily="49" charset="0"/>
                <a:ea typeface="JetBrains Mono" pitchFamily="49" charset="-122"/>
                <a:cs typeface="JetBrains Mono" pitchFamily="49" charset="-120"/>
              </a:rPr>
              <a:t>(144, 161, 47)</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5" name="Text 23"/>
          <p:cNvSpPr/>
          <p:nvPr/>
        </p:nvSpPr>
        <p:spPr>
          <a:xfrm>
            <a:off x="4195233" y="3653303"/>
            <a:ext cx="304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a:t>
            </a:r>
            <a:endParaRPr kumimoji="0" lang="en-US" sz="20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6" name="Shape 24"/>
          <p:cNvSpPr/>
          <p:nvPr/>
        </p:nvSpPr>
        <p:spPr>
          <a:xfrm>
            <a:off x="4604808" y="3605678"/>
            <a:ext cx="450850" cy="450850"/>
          </a:xfrm>
          <a:prstGeom prst="roundRect">
            <a:avLst>
              <a:gd name="adj" fmla="val 10563"/>
            </a:avLst>
          </a:prstGeom>
          <a:solidFill>
            <a:srgbClr val="7D7B62"/>
          </a:solidFill>
          <a:ln w="6350">
            <a:solidFill>
              <a:srgbClr val="C9C4BD"/>
            </a:solidFill>
            <a:prstDash val="solid"/>
          </a:ln>
        </p:spPr>
        <p:txBody>
          <a:bodyPr/>
          <a:lstStyle/>
          <a:p>
            <a:endParaRPr lang="en-GB"/>
          </a:p>
        </p:txBody>
      </p:sp>
      <p:sp>
        <p:nvSpPr>
          <p:cNvPr id="27" name="Text 25"/>
          <p:cNvSpPr/>
          <p:nvPr/>
        </p:nvSpPr>
        <p:spPr>
          <a:xfrm>
            <a:off x="5211233" y="3715544"/>
            <a:ext cx="163830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D1C21"/>
                </a:solidFill>
                <a:effectLst/>
                <a:uLnTx/>
                <a:uFillTx/>
                <a:latin typeface="JetBrains Mono" pitchFamily="49" charset="0"/>
                <a:ea typeface="JetBrains Mono" pitchFamily="49" charset="-122"/>
                <a:cs typeface="JetBrains Mono" pitchFamily="49" charset="-120"/>
              </a:rPr>
              <a:t>(125, 123, 98)</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8" name="Text 26"/>
          <p:cNvSpPr/>
          <p:nvPr/>
        </p:nvSpPr>
        <p:spPr>
          <a:xfrm>
            <a:off x="6951134" y="3715544"/>
            <a:ext cx="4373414"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Green turns grey-olive</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9" name="Text 27"/>
          <p:cNvSpPr/>
          <p:nvPr/>
        </p:nvSpPr>
        <p:spPr>
          <a:xfrm>
            <a:off x="812800" y="4444935"/>
            <a:ext cx="10883392" cy="523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Do this for all 273,280 pixels and the photo uses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only 8 colours</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Pixels near a centre barely change; pixels far from every centre change a lot.</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30" name="Text 28"/>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THE RESULT</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96,615 colours down to 8</a:t>
            </a:r>
            <a:endParaRPr lang="en-US" sz="3200" dirty="0"/>
          </a:p>
        </p:txBody>
      </p:sp>
      <p:pic>
        <p:nvPicPr>
          <p:cNvPr id="5" name="Image 0" descr="The original photo in full colour."/>
          <p:cNvPicPr>
            <a:picLocks noChangeAspect="1"/>
          </p:cNvPicPr>
          <p:nvPr/>
        </p:nvPicPr>
        <p:blipFill>
          <a:blip r:embed="rId3"/>
          <a:srcRect l="-39" r="-39"/>
          <a:stretch/>
        </p:blipFill>
        <p:spPr>
          <a:xfrm>
            <a:off x="812800" y="1777935"/>
            <a:ext cx="5181600" cy="3454400"/>
          </a:xfrm>
          <a:prstGeom prst="roundRect">
            <a:avLst>
              <a:gd name="adj" fmla="val 2206"/>
            </a:avLst>
          </a:prstGeom>
        </p:spPr>
      </p:pic>
      <p:sp>
        <p:nvSpPr>
          <p:cNvPr id="6" name="Text 3"/>
          <p:cNvSpPr/>
          <p:nvPr/>
        </p:nvSpPr>
        <p:spPr>
          <a:xfrm>
            <a:off x="812800" y="5321235"/>
            <a:ext cx="5337048"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Original:</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96,615 colours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pic>
        <p:nvPicPr>
          <p:cNvPr id="7" name="Image 1" descr="The same photo repainted with only eight colours: pale blues, browns, olives and a terracotta. The tower is still clear, but the reds and greens are dull and the sky has a visible edge between two blues."/>
          <p:cNvPicPr>
            <a:picLocks noChangeAspect="1"/>
          </p:cNvPicPr>
          <p:nvPr/>
        </p:nvPicPr>
        <p:blipFill>
          <a:blip r:embed="rId4"/>
          <a:srcRect l="-39" r="-39"/>
          <a:stretch/>
        </p:blipFill>
        <p:spPr>
          <a:xfrm>
            <a:off x="6197600" y="1777935"/>
            <a:ext cx="5181600" cy="3454400"/>
          </a:xfrm>
          <a:prstGeom prst="roundRect">
            <a:avLst>
              <a:gd name="adj" fmla="val 2206"/>
            </a:avLst>
          </a:prstGeom>
        </p:spPr>
      </p:pic>
      <p:sp>
        <p:nvSpPr>
          <p:cNvPr id="8" name="Text 4"/>
          <p:cNvSpPr/>
          <p:nvPr/>
        </p:nvSpPr>
        <p:spPr>
          <a:xfrm>
            <a:off x="6197600" y="5387249"/>
            <a:ext cx="1257300"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8 colours: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9" name="Shape 5"/>
          <p:cNvSpPr/>
          <p:nvPr/>
        </p:nvSpPr>
        <p:spPr>
          <a:xfrm>
            <a:off x="7470775" y="5324410"/>
            <a:ext cx="374650" cy="374650"/>
          </a:xfrm>
          <a:prstGeom prst="roundRect">
            <a:avLst>
              <a:gd name="adj" fmla="val 12712"/>
            </a:avLst>
          </a:prstGeom>
          <a:solidFill>
            <a:srgbClr val="E9F0F9"/>
          </a:solidFill>
          <a:ln w="6350">
            <a:solidFill>
              <a:srgbClr val="C9C4BD"/>
            </a:solidFill>
            <a:prstDash val="solid"/>
          </a:ln>
        </p:spPr>
        <p:txBody>
          <a:bodyPr/>
          <a:lstStyle/>
          <a:p>
            <a:endParaRPr lang="en-GB"/>
          </a:p>
        </p:txBody>
      </p:sp>
      <p:sp>
        <p:nvSpPr>
          <p:cNvPr id="10" name="Shape 6"/>
          <p:cNvSpPr/>
          <p:nvPr/>
        </p:nvSpPr>
        <p:spPr>
          <a:xfrm>
            <a:off x="7915275" y="5324410"/>
            <a:ext cx="374650" cy="374650"/>
          </a:xfrm>
          <a:prstGeom prst="roundRect">
            <a:avLst>
              <a:gd name="adj" fmla="val 12712"/>
            </a:avLst>
          </a:prstGeom>
          <a:solidFill>
            <a:srgbClr val="C5D4E4"/>
          </a:solidFill>
          <a:ln w="6350">
            <a:solidFill>
              <a:srgbClr val="C9C4BD"/>
            </a:solidFill>
            <a:prstDash val="solid"/>
          </a:ln>
        </p:spPr>
        <p:txBody>
          <a:bodyPr/>
          <a:lstStyle/>
          <a:p>
            <a:endParaRPr lang="en-GB"/>
          </a:p>
        </p:txBody>
      </p:sp>
      <p:sp>
        <p:nvSpPr>
          <p:cNvPr id="11" name="Shape 7"/>
          <p:cNvSpPr/>
          <p:nvPr/>
        </p:nvSpPr>
        <p:spPr>
          <a:xfrm>
            <a:off x="8359775" y="5324410"/>
            <a:ext cx="374650" cy="374650"/>
          </a:xfrm>
          <a:prstGeom prst="roundRect">
            <a:avLst>
              <a:gd name="adj" fmla="val 12712"/>
            </a:avLst>
          </a:prstGeom>
          <a:solidFill>
            <a:srgbClr val="14120C"/>
          </a:solidFill>
          <a:ln w="6350">
            <a:solidFill>
              <a:srgbClr val="C9C4BD"/>
            </a:solidFill>
            <a:prstDash val="solid"/>
          </a:ln>
        </p:spPr>
        <p:txBody>
          <a:bodyPr/>
          <a:lstStyle/>
          <a:p>
            <a:endParaRPr lang="en-GB"/>
          </a:p>
        </p:txBody>
      </p:sp>
      <p:sp>
        <p:nvSpPr>
          <p:cNvPr id="12" name="Shape 8"/>
          <p:cNvSpPr/>
          <p:nvPr/>
        </p:nvSpPr>
        <p:spPr>
          <a:xfrm>
            <a:off x="8804275" y="5324410"/>
            <a:ext cx="374650" cy="374650"/>
          </a:xfrm>
          <a:prstGeom prst="roundRect">
            <a:avLst>
              <a:gd name="adj" fmla="val 12712"/>
            </a:avLst>
          </a:prstGeom>
          <a:solidFill>
            <a:srgbClr val="373225"/>
          </a:solidFill>
          <a:ln w="6350">
            <a:solidFill>
              <a:srgbClr val="C9C4BD"/>
            </a:solidFill>
            <a:prstDash val="solid"/>
          </a:ln>
        </p:spPr>
        <p:txBody>
          <a:bodyPr/>
          <a:lstStyle/>
          <a:p>
            <a:endParaRPr lang="en-GB"/>
          </a:p>
        </p:txBody>
      </p:sp>
      <p:sp>
        <p:nvSpPr>
          <p:cNvPr id="13" name="Shape 9"/>
          <p:cNvSpPr/>
          <p:nvPr/>
        </p:nvSpPr>
        <p:spPr>
          <a:xfrm>
            <a:off x="9248775" y="5324410"/>
            <a:ext cx="374650" cy="374650"/>
          </a:xfrm>
          <a:prstGeom prst="roundRect">
            <a:avLst>
              <a:gd name="adj" fmla="val 12712"/>
            </a:avLst>
          </a:prstGeom>
          <a:solidFill>
            <a:srgbClr val="615638"/>
          </a:solidFill>
          <a:ln w="6350">
            <a:solidFill>
              <a:srgbClr val="C9C4BD"/>
            </a:solidFill>
            <a:prstDash val="solid"/>
          </a:ln>
        </p:spPr>
        <p:txBody>
          <a:bodyPr/>
          <a:lstStyle/>
          <a:p>
            <a:endParaRPr lang="en-GB"/>
          </a:p>
        </p:txBody>
      </p:sp>
      <p:sp>
        <p:nvSpPr>
          <p:cNvPr id="14" name="Shape 10"/>
          <p:cNvSpPr/>
          <p:nvPr/>
        </p:nvSpPr>
        <p:spPr>
          <a:xfrm>
            <a:off x="9693275" y="5324410"/>
            <a:ext cx="374650" cy="374650"/>
          </a:xfrm>
          <a:prstGeom prst="roundRect">
            <a:avLst>
              <a:gd name="adj" fmla="val 12712"/>
            </a:avLst>
          </a:prstGeom>
          <a:solidFill>
            <a:srgbClr val="7D7B62"/>
          </a:solidFill>
          <a:ln w="6350">
            <a:solidFill>
              <a:srgbClr val="C9C4BD"/>
            </a:solidFill>
            <a:prstDash val="solid"/>
          </a:ln>
        </p:spPr>
        <p:txBody>
          <a:bodyPr/>
          <a:lstStyle/>
          <a:p>
            <a:endParaRPr lang="en-GB"/>
          </a:p>
        </p:txBody>
      </p:sp>
      <p:sp>
        <p:nvSpPr>
          <p:cNvPr id="15" name="Shape 11"/>
          <p:cNvSpPr/>
          <p:nvPr/>
        </p:nvSpPr>
        <p:spPr>
          <a:xfrm>
            <a:off x="10137775" y="5324410"/>
            <a:ext cx="374650" cy="374650"/>
          </a:xfrm>
          <a:prstGeom prst="roundRect">
            <a:avLst>
              <a:gd name="adj" fmla="val 12712"/>
            </a:avLst>
          </a:prstGeom>
          <a:solidFill>
            <a:srgbClr val="A6B0AB"/>
          </a:solidFill>
          <a:ln w="6350">
            <a:solidFill>
              <a:srgbClr val="C9C4BD"/>
            </a:solidFill>
            <a:prstDash val="solid"/>
          </a:ln>
        </p:spPr>
        <p:txBody>
          <a:bodyPr/>
          <a:lstStyle/>
          <a:p>
            <a:endParaRPr lang="en-GB"/>
          </a:p>
        </p:txBody>
      </p:sp>
      <p:sp>
        <p:nvSpPr>
          <p:cNvPr id="16" name="Shape 12"/>
          <p:cNvSpPr/>
          <p:nvPr/>
        </p:nvSpPr>
        <p:spPr>
          <a:xfrm>
            <a:off x="10582275" y="5324410"/>
            <a:ext cx="374650" cy="374650"/>
          </a:xfrm>
          <a:prstGeom prst="roundRect">
            <a:avLst>
              <a:gd name="adj" fmla="val 12712"/>
            </a:avLst>
          </a:prstGeom>
          <a:solidFill>
            <a:srgbClr val="CB926B"/>
          </a:solidFill>
          <a:ln w="6350">
            <a:solidFill>
              <a:srgbClr val="C9C4BD"/>
            </a:solidFill>
            <a:prstDash val="solid"/>
          </a:ln>
        </p:spPr>
        <p:txBody>
          <a:bodyPr/>
          <a:lstStyle/>
          <a:p>
            <a:endParaRPr lang="en-GB"/>
          </a:p>
        </p:txBody>
      </p:sp>
      <p:sp>
        <p:nvSpPr>
          <p:cNvPr id="17" name="Text 13"/>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WHY THESE 8?</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Centres go where most of the pixels are</a:t>
            </a:r>
            <a:endParaRPr lang="en-US" sz="3200" dirty="0"/>
          </a:p>
        </p:txBody>
      </p:sp>
      <p:pic>
        <p:nvPicPr>
          <p:cNvPr id="5" name="Image 0" descr="Bar chart of the share of pixels in each of the eight colour clusters: bright sky 24.3 percent, pale sky and lake 18.8, near black 13.1, dark brown 12.6, olive brown 11.9, grey olive 9.1, grey haze 7.3 and terracotta 2.9."/>
          <p:cNvPicPr>
            <a:picLocks noChangeAspect="1"/>
          </p:cNvPicPr>
          <p:nvPr/>
        </p:nvPicPr>
        <p:blipFill>
          <a:blip r:embed="rId3"/>
          <a:srcRect/>
          <a:stretch/>
        </p:blipFill>
        <p:spPr>
          <a:xfrm>
            <a:off x="812800" y="1777935"/>
            <a:ext cx="6350000" cy="3302000"/>
          </a:xfrm>
          <a:prstGeom prst="roundRect">
            <a:avLst>
              <a:gd name="adj" fmla="val 2308"/>
            </a:avLst>
          </a:prstGeom>
        </p:spPr>
      </p:pic>
      <p:sp>
        <p:nvSpPr>
          <p:cNvPr id="6" name="Text 3"/>
          <p:cNvSpPr/>
          <p:nvPr/>
        </p:nvSpPr>
        <p:spPr>
          <a:xfrm>
            <a:off x="7467600" y="2303729"/>
            <a:ext cx="4028948" cy="523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The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sky and lake</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cover 43% of the photo, so they get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2 of the 8</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colours.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7" name="Text 4"/>
          <p:cNvSpPr/>
          <p:nvPr/>
        </p:nvSpPr>
        <p:spPr>
          <a:xfrm>
            <a:off x="7467600" y="2941241"/>
            <a:ext cx="4028948" cy="7721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The red pillars and green leaves cover only a few pixels. They get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no colour of their own</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and are merged with browns and olives.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8" name="Text 5"/>
          <p:cNvSpPr/>
          <p:nvPr/>
        </p:nvSpPr>
        <p:spPr>
          <a:xfrm>
            <a:off x="7467600" y="3827661"/>
            <a:ext cx="3911600" cy="726414"/>
          </a:xfrm>
          <a:prstGeom prst="roundRect">
            <a:avLst>
              <a:gd name="adj" fmla="val 8742"/>
            </a:avLst>
          </a:prstGeom>
          <a:solidFill>
            <a:srgbClr val="F1EDE7"/>
          </a:solidFill>
          <a:ln/>
        </p:spPr>
        <p:txBody>
          <a:bodyPr wrap="square" lIns="121101" tIns="95701" rIns="12135" bIns="70301"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K-means makes the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total</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distance small, so big groups matter most.</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9" name="Text 6"/>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 · Share of all 273,280 pixels, k = 8</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CHOOSING K</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More clusters, more detail</a:t>
            </a:r>
            <a:endParaRPr lang="en-US" sz="3200" dirty="0"/>
          </a:p>
        </p:txBody>
      </p:sp>
      <p:pic>
        <p:nvPicPr>
          <p:cNvPr id="5" name="Image 0" descr="Four versions of the photo with 2, 4, 16 and 64 colours. With 2 colours it is a two-tone silhouette; with 4 the main shapes appear; with 16 it looks close to the original apart from some banding in the sky; with 64 it is hard to tell apart from the original."/>
          <p:cNvPicPr>
            <a:picLocks noChangeAspect="1"/>
          </p:cNvPicPr>
          <p:nvPr/>
        </p:nvPicPr>
        <p:blipFill>
          <a:blip r:embed="rId3"/>
          <a:srcRect t="-57" b="-57"/>
          <a:stretch/>
        </p:blipFill>
        <p:spPr>
          <a:xfrm>
            <a:off x="812800" y="1752535"/>
            <a:ext cx="10566400" cy="2247900"/>
          </a:xfrm>
          <a:prstGeom prst="roundRect">
            <a:avLst>
              <a:gd name="adj" fmla="val 3390"/>
            </a:avLst>
          </a:prstGeom>
        </p:spPr>
      </p:pic>
      <p:sp>
        <p:nvSpPr>
          <p:cNvPr id="6" name="Shape 3"/>
          <p:cNvSpPr/>
          <p:nvPr/>
        </p:nvSpPr>
        <p:spPr>
          <a:xfrm>
            <a:off x="815975" y="4206813"/>
            <a:ext cx="2520950" cy="1127257"/>
          </a:xfrm>
          <a:prstGeom prst="roundRect">
            <a:avLst>
              <a:gd name="adj" fmla="val 6478"/>
            </a:avLst>
          </a:prstGeom>
          <a:solidFill>
            <a:srgbClr val="FFFEFC"/>
          </a:solidFill>
          <a:ln w="6350">
            <a:solidFill>
              <a:srgbClr val="E4DED6"/>
            </a:solidFill>
            <a:prstDash val="solid"/>
          </a:ln>
        </p:spPr>
        <p:txBody>
          <a:bodyPr/>
          <a:lstStyle/>
          <a:p>
            <a:endParaRPr lang="en-GB"/>
          </a:p>
        </p:txBody>
      </p:sp>
      <p:sp>
        <p:nvSpPr>
          <p:cNvPr id="7" name="Text 4"/>
          <p:cNvSpPr/>
          <p:nvPr/>
        </p:nvSpPr>
        <p:spPr>
          <a:xfrm>
            <a:off x="994833" y="4385667"/>
            <a:ext cx="2228130"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k = 2</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8" name="Text 5"/>
          <p:cNvSpPr/>
          <p:nvPr/>
        </p:nvSpPr>
        <p:spPr>
          <a:xfrm>
            <a:off x="994833" y="4692985"/>
            <a:ext cx="2228130" cy="48762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Light against dark: just a silhouette.</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9" name="Shape 6"/>
          <p:cNvSpPr/>
          <p:nvPr/>
        </p:nvSpPr>
        <p:spPr>
          <a:xfrm>
            <a:off x="3495675" y="4206813"/>
            <a:ext cx="2520950" cy="1127257"/>
          </a:xfrm>
          <a:prstGeom prst="roundRect">
            <a:avLst>
              <a:gd name="adj" fmla="val 6478"/>
            </a:avLst>
          </a:prstGeom>
          <a:solidFill>
            <a:srgbClr val="FFFEFC"/>
          </a:solidFill>
          <a:ln w="6350">
            <a:solidFill>
              <a:srgbClr val="E4DED6"/>
            </a:solidFill>
            <a:prstDash val="solid"/>
          </a:ln>
        </p:spPr>
        <p:txBody>
          <a:bodyPr/>
          <a:lstStyle/>
          <a:p>
            <a:endParaRPr lang="en-GB"/>
          </a:p>
        </p:txBody>
      </p:sp>
      <p:sp>
        <p:nvSpPr>
          <p:cNvPr id="10" name="Text 7"/>
          <p:cNvSpPr/>
          <p:nvPr/>
        </p:nvSpPr>
        <p:spPr>
          <a:xfrm>
            <a:off x="3674533" y="4385667"/>
            <a:ext cx="2228130"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k = 4</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1" name="Text 8"/>
          <p:cNvSpPr/>
          <p:nvPr/>
        </p:nvSpPr>
        <p:spPr>
          <a:xfrm>
            <a:off x="3674533" y="4692985"/>
            <a:ext cx="2228130" cy="48762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The main shapes appear, but still no colour.</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2" name="Shape 9"/>
          <p:cNvSpPr/>
          <p:nvPr/>
        </p:nvSpPr>
        <p:spPr>
          <a:xfrm>
            <a:off x="6175375" y="4206813"/>
            <a:ext cx="2520950" cy="1127257"/>
          </a:xfrm>
          <a:prstGeom prst="roundRect">
            <a:avLst>
              <a:gd name="adj" fmla="val 6478"/>
            </a:avLst>
          </a:prstGeom>
          <a:solidFill>
            <a:srgbClr val="FFFEFC"/>
          </a:solidFill>
          <a:ln w="6350">
            <a:solidFill>
              <a:srgbClr val="E4DED6"/>
            </a:solidFill>
            <a:prstDash val="solid"/>
          </a:ln>
        </p:spPr>
        <p:txBody>
          <a:bodyPr/>
          <a:lstStyle/>
          <a:p>
            <a:endParaRPr lang="en-GB"/>
          </a:p>
        </p:txBody>
      </p:sp>
      <p:sp>
        <p:nvSpPr>
          <p:cNvPr id="13" name="Text 10"/>
          <p:cNvSpPr/>
          <p:nvPr/>
        </p:nvSpPr>
        <p:spPr>
          <a:xfrm>
            <a:off x="6354233" y="4385667"/>
            <a:ext cx="2228130"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k = 16</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4" name="Text 11"/>
          <p:cNvSpPr/>
          <p:nvPr/>
        </p:nvSpPr>
        <p:spPr>
          <a:xfrm>
            <a:off x="6354233" y="4692985"/>
            <a:ext cx="2228130" cy="48762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The reds come back. Close to the original.</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5" name="Shape 12"/>
          <p:cNvSpPr/>
          <p:nvPr/>
        </p:nvSpPr>
        <p:spPr>
          <a:xfrm>
            <a:off x="8855075" y="4206813"/>
            <a:ext cx="2520950" cy="1127257"/>
          </a:xfrm>
          <a:prstGeom prst="roundRect">
            <a:avLst>
              <a:gd name="adj" fmla="val 6478"/>
            </a:avLst>
          </a:prstGeom>
          <a:solidFill>
            <a:srgbClr val="FFFEFC"/>
          </a:solidFill>
          <a:ln w="6350">
            <a:solidFill>
              <a:srgbClr val="E4DED6"/>
            </a:solidFill>
            <a:prstDash val="solid"/>
          </a:ln>
        </p:spPr>
        <p:txBody>
          <a:bodyPr/>
          <a:lstStyle/>
          <a:p>
            <a:endParaRPr lang="en-GB"/>
          </a:p>
        </p:txBody>
      </p:sp>
      <p:sp>
        <p:nvSpPr>
          <p:cNvPr id="16" name="Text 13"/>
          <p:cNvSpPr/>
          <p:nvPr/>
        </p:nvSpPr>
        <p:spPr>
          <a:xfrm>
            <a:off x="9033934" y="4385667"/>
            <a:ext cx="2228130"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k = 64</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7" name="Text 14"/>
          <p:cNvSpPr/>
          <p:nvPr/>
        </p:nvSpPr>
        <p:spPr>
          <a:xfrm>
            <a:off x="9033934" y="4692985"/>
            <a:ext cx="2228130" cy="48762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Very hard to tell apart from the original.</a:t>
            </a:r>
            <a:endParaRPr kumimoji="0" lang="en-US" sz="13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8" name="Text 15"/>
          <p:cNvSpPr/>
          <p:nvPr/>
        </p:nvSpPr>
        <p:spPr>
          <a:xfrm>
            <a:off x="812800" y="5540443"/>
            <a:ext cx="10883392"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We choose k. There is no single right answer: it is a trade-off between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detail</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and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simplicity</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9" name="Text 16"/>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WHY DO THIS?</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Fewer colours means smaller images</a:t>
            </a:r>
            <a:endParaRPr lang="en-US" sz="3200" dirty="0"/>
          </a:p>
        </p:txBody>
      </p:sp>
      <p:sp>
        <p:nvSpPr>
          <p:cNvPr id="5" name="Shape 3"/>
          <p:cNvSpPr/>
          <p:nvPr/>
        </p:nvSpPr>
        <p:spPr>
          <a:xfrm>
            <a:off x="812800" y="1803338"/>
            <a:ext cx="5588000" cy="2671233"/>
          </a:xfrm>
          <a:prstGeom prst="roundRect">
            <a:avLst>
              <a:gd name="adj" fmla="val 2853"/>
            </a:avLst>
          </a:prstGeom>
          <a:solidFill>
            <a:srgbClr val="FFFEFC"/>
          </a:solidFill>
          <a:ln/>
        </p:spPr>
        <p:txBody>
          <a:bodyPr/>
          <a:lstStyle/>
          <a:p>
            <a:endParaRPr lang="en-GB"/>
          </a:p>
        </p:txBody>
      </p:sp>
      <p:sp>
        <p:nvSpPr>
          <p:cNvPr id="6" name="Shape 4"/>
          <p:cNvSpPr/>
          <p:nvPr/>
        </p:nvSpPr>
        <p:spPr>
          <a:xfrm>
            <a:off x="812800" y="1803338"/>
            <a:ext cx="5588000" cy="2671233"/>
          </a:xfrm>
          <a:custGeom>
            <a:avLst/>
            <a:gdLst/>
            <a:ahLst/>
            <a:cxnLst/>
            <a:rect l="l" t="t" r="r" b="b"/>
            <a:pathLst>
              <a:path w="5588000" h="2671233">
                <a:moveTo>
                  <a:pt x="5511800" y="0"/>
                </a:moveTo>
                <a:lnTo>
                  <a:pt x="5511800" y="0"/>
                </a:lnTo>
                <a:arcTo wR="76200" hR="76200" stAng="16200000" swAng="5400000"/>
                <a:lnTo>
                  <a:pt x="5588000" y="2595033"/>
                </a:lnTo>
                <a:arcTo wR="76200" hR="76200" stAng="0" swAng="5400000"/>
                <a:lnTo>
                  <a:pt x="76200" y="2671233"/>
                </a:lnTo>
                <a:arcTo wR="76200" hR="76200" stAng="5400000" swAng="5400000"/>
                <a:lnTo>
                  <a:pt x="0" y="2595033"/>
                </a:lnTo>
                <a:arcTo wR="76200" hR="69850" stAng="10800000" swAng="-5400000"/>
                <a:lnTo>
                  <a:pt x="5511800" y="2664883"/>
                </a:lnTo>
                <a:arcTo wR="69850" hR="69850" stAng="5400000" swAng="-5400000"/>
                <a:lnTo>
                  <a:pt x="5581650" y="76200"/>
                </a:lnTo>
                <a:arcTo wR="69850" hR="76200" stAng="0" swAng="-5400000"/>
                <a:close/>
              </a:path>
            </a:pathLst>
          </a:custGeom>
          <a:solidFill>
            <a:srgbClr val="E4DED6"/>
          </a:solidFill>
          <a:ln/>
        </p:spPr>
        <p:txBody>
          <a:bodyPr/>
          <a:lstStyle/>
          <a:p>
            <a:endParaRPr lang="en-GB"/>
          </a:p>
        </p:txBody>
      </p:sp>
      <p:sp>
        <p:nvSpPr>
          <p:cNvPr id="7" name="Shape 5"/>
          <p:cNvSpPr/>
          <p:nvPr/>
        </p:nvSpPr>
        <p:spPr>
          <a:xfrm>
            <a:off x="812800" y="1803338"/>
            <a:ext cx="5588000" cy="2671233"/>
          </a:xfrm>
          <a:custGeom>
            <a:avLst/>
            <a:gdLst/>
            <a:ahLst/>
            <a:cxnLst/>
            <a:rect l="l" t="t" r="r" b="b"/>
            <a:pathLst>
              <a:path w="5588000" h="2671233">
                <a:moveTo>
                  <a:pt x="76200" y="2671233"/>
                </a:moveTo>
                <a:lnTo>
                  <a:pt x="76200" y="2671233"/>
                </a:lnTo>
                <a:arcTo wR="76200" hR="76200" stAng="5400000" swAng="5400000"/>
                <a:lnTo>
                  <a:pt x="0" y="76200"/>
                </a:lnTo>
                <a:arcTo wR="76200" hR="76200" stAng="10800000" swAng="5400000"/>
                <a:lnTo>
                  <a:pt x="5511800" y="0"/>
                </a:lnTo>
                <a:arcTo wR="76200" hR="76200" stAng="16200000" swAng="5400000"/>
                <a:lnTo>
                  <a:pt x="5588000" y="76200"/>
                </a:lnTo>
                <a:arcTo wR="76200" hR="63500" stAng="0" swAng="-5400000"/>
                <a:lnTo>
                  <a:pt x="76200" y="12700"/>
                </a:lnTo>
                <a:arcTo wR="63500" hR="63500" stAng="16200000" swAng="-5400000"/>
                <a:lnTo>
                  <a:pt x="12700" y="2595033"/>
                </a:lnTo>
                <a:arcTo wR="63500" hR="76200" stAng="10800000" swAng="-5400000"/>
                <a:close/>
              </a:path>
            </a:pathLst>
          </a:custGeom>
          <a:solidFill>
            <a:srgbClr val="141413">
              <a:alpha val="22000"/>
            </a:srgbClr>
          </a:solidFill>
          <a:ln/>
        </p:spPr>
        <p:txBody>
          <a:bodyPr/>
          <a:lstStyle/>
          <a:p>
            <a:endParaRPr lang="en-GB"/>
          </a:p>
        </p:txBody>
      </p:sp>
      <p:graphicFrame>
        <p:nvGraphicFramePr>
          <p:cNvPr id="8" name="Table 0"/>
          <p:cNvGraphicFramePr>
            <a:graphicFrameLocks noGrp="1"/>
          </p:cNvGraphicFramePr>
          <p:nvPr/>
        </p:nvGraphicFramePr>
        <p:xfrm>
          <a:off x="952500" y="1904938"/>
          <a:ext cx="5317067" cy="2476500"/>
        </p:xfrm>
        <a:graphic>
          <a:graphicData uri="http://schemas.openxmlformats.org/drawingml/2006/table">
            <a:tbl>
              <a:tblPr/>
              <a:tblGrid>
                <a:gridCol w="1807803">
                  <a:extLst>
                    <a:ext uri="{9D8B030D-6E8A-4147-A177-3AD203B41FA5}">
                      <a16:colId xmlns:a16="http://schemas.microsoft.com/office/drawing/2014/main" val="20000"/>
                    </a:ext>
                  </a:extLst>
                </a:gridCol>
                <a:gridCol w="1754632">
                  <a:extLst>
                    <a:ext uri="{9D8B030D-6E8A-4147-A177-3AD203B41FA5}">
                      <a16:colId xmlns:a16="http://schemas.microsoft.com/office/drawing/2014/main" val="20001"/>
                    </a:ext>
                  </a:extLst>
                </a:gridCol>
                <a:gridCol w="1754632">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F4F1EC"/>
                          </a:solidFill>
                          <a:latin typeface="DM Sans" pitchFamily="34" charset="0"/>
                          <a:ea typeface="DM Sans" pitchFamily="34" charset="-122"/>
                          <a:cs typeface="DM Sans" pitchFamily="34" charset="-120"/>
                        </a:rPr>
                        <a:t>Colours</a:t>
                      </a:r>
                      <a:endParaRPr lang="en-US" sz="1500" dirty="0">
                        <a:latin typeface="DM Sans" charset="0"/>
                        <a:ea typeface="DM Sans" charset="0"/>
                        <a:cs typeface="DM Sans" charset="0"/>
                      </a:endParaRPr>
                    </a:p>
                  </a:txBody>
                  <a:tcPr marL="66675" marR="66675" marT="66675" marB="66675">
                    <a:lnL w="0" cap="flat" cmpd="sng" algn="ctr">
                      <a:noFill/>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tc>
                  <a:txBody>
                    <a:bodyPr/>
                    <a:lstStyle/>
                    <a:p>
                      <a:pPr marL="0" indent="0">
                        <a:lnSpc>
                          <a:spcPts val="2100"/>
                        </a:lnSpc>
                        <a:buNone/>
                      </a:pPr>
                      <a:r>
                        <a:rPr lang="en-US" sz="1500" b="1" dirty="0">
                          <a:solidFill>
                            <a:srgbClr val="F4F1EC"/>
                          </a:solidFill>
                          <a:latin typeface="DM Sans" pitchFamily="34" charset="0"/>
                          <a:ea typeface="DM Sans" pitchFamily="34" charset="-122"/>
                          <a:cs typeface="DM Sans" pitchFamily="34" charset="-120"/>
                        </a:rPr>
                        <a:t>Bits per pixel</a:t>
                      </a:r>
                      <a:endParaRPr lang="en-US" sz="1500" dirty="0">
                        <a:latin typeface="DM Sans" charset="0"/>
                        <a:ea typeface="DM Sans" charset="0"/>
                        <a:cs typeface="DM Sans" charset="0"/>
                      </a:endParaRPr>
                    </a:p>
                  </a:txBody>
                  <a:tcPr marL="66675" marR="66675" marT="66675" marB="66675">
                    <a:lnL w="12700" cap="flat" cmpd="sng" algn="ctr">
                      <a:solidFill>
                        <a:srgbClr val="1B1A1E"/>
                      </a:solidFill>
                      <a:prstDash val="solid"/>
                      <a:round/>
                      <a:headEnd type="none" w="med" len="med"/>
                      <a:tailEnd type="none" w="med" len="med"/>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tc>
                  <a:txBody>
                    <a:bodyPr/>
                    <a:lstStyle/>
                    <a:p>
                      <a:pPr marL="0" indent="0">
                        <a:lnSpc>
                          <a:spcPts val="2100"/>
                        </a:lnSpc>
                        <a:buNone/>
                      </a:pPr>
                      <a:r>
                        <a:rPr lang="en-US" sz="1500" b="1" dirty="0">
                          <a:solidFill>
                            <a:srgbClr val="FF6B78"/>
                          </a:solidFill>
                          <a:latin typeface="DM Sans" pitchFamily="34" charset="0"/>
                          <a:ea typeface="DM Sans" pitchFamily="34" charset="-122"/>
                          <a:cs typeface="DM Sans" pitchFamily="34" charset="-120"/>
                        </a:rPr>
                        <a:t>Raw size</a:t>
                      </a:r>
                      <a:endParaRPr lang="en-US" sz="1500" dirty="0">
                        <a:latin typeface="DM Sans" charset="0"/>
                        <a:ea typeface="DM Sans" charset="0"/>
                        <a:cs typeface="DM Sans" charset="0"/>
                      </a:endParaRPr>
                    </a:p>
                  </a:txBody>
                  <a:tcPr marL="66675" marR="66675" marT="66675" marB="66675">
                    <a:lnL w="12700" cap="flat" cmpd="sng" algn="ctr">
                      <a:solidFill>
                        <a:srgbClr val="1B1A1E"/>
                      </a:solidFill>
                      <a:prstDash val="solid"/>
                      <a:round/>
                      <a:headEnd type="none" w="med" len="med"/>
                      <a:tailEnd type="none" w="med" len="med"/>
                    </a:lnL>
                    <a:lnR w="12700" cap="flat" cmpd="sng" algn="ctr">
                      <a:solidFill>
                        <a:srgbClr val="1B1A1E"/>
                      </a:solidFill>
                      <a:prstDash val="solid"/>
                      <a:round/>
                      <a:headEnd type="none" w="med" len="med"/>
                      <a:tailEnd type="none" w="med" len="med"/>
                    </a:lnR>
                    <a:lnT w="0" cap="flat" cmpd="sng" algn="ctr">
                      <a:noFill/>
                    </a:lnT>
                    <a:lnB w="12700" cap="flat" cmpd="sng" algn="ctr">
                      <a:solidFill>
                        <a:srgbClr val="1B1A1E"/>
                      </a:solidFill>
                      <a:prstDash val="solid"/>
                      <a:round/>
                      <a:headEnd type="none" w="med" len="med"/>
                      <a:tailEnd type="none" w="med" len="med"/>
                    </a:lnB>
                    <a:solidFill>
                      <a:srgbClr val="1D1C21"/>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Original</a:t>
                      </a:r>
                      <a:endParaRPr lang="en-US" sz="1500" dirty="0">
                        <a:latin typeface="DM Sans" charset="0"/>
                        <a:ea typeface="DM Sans" charset="0"/>
                        <a:cs typeface="DM Sans" charset="0"/>
                      </a:endParaRPr>
                    </a:p>
                  </a:txBody>
                  <a:tcPr marL="66675" marR="66675" marT="66675" marB="66675">
                    <a:lnL w="0" cap="flat" cmpd="sng" algn="ctr">
                      <a:noFill/>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24</a:t>
                      </a:r>
                      <a:endParaRPr lang="en-US" sz="1500" dirty="0">
                        <a:latin typeface="DM Sans" charset="0"/>
                        <a:ea typeface="DM Sans" charset="0"/>
                        <a:cs typeface="DM Sans" charset="0"/>
                      </a:endParaRPr>
                    </a:p>
                  </a:txBody>
                  <a:tcPr marL="66675" marR="66675" marT="66675" marB="66675">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820 KB</a:t>
                      </a:r>
                      <a:endParaRPr lang="en-US" sz="1500" dirty="0">
                        <a:latin typeface="DM Sans" charset="0"/>
                        <a:ea typeface="DM Sans" charset="0"/>
                        <a:cs typeface="DM Sans" charset="0"/>
                      </a:endParaRPr>
                    </a:p>
                  </a:txBody>
                  <a:tcPr marL="66675" marR="66675" marT="66675" marB="66675">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1B1A1E"/>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k = 64</a:t>
                      </a:r>
                      <a:endParaRPr lang="en-US" sz="1500" dirty="0">
                        <a:latin typeface="DM Sans" charset="0"/>
                        <a:ea typeface="DM Sans" charset="0"/>
                        <a:cs typeface="DM Sans" charset="0"/>
                      </a:endParaRPr>
                    </a:p>
                  </a:txBody>
                  <a:tcPr marL="66675" marR="66675" marT="66675" marB="66675">
                    <a:lnL w="0" cap="flat" cmpd="sng" algn="ctr">
                      <a:noFill/>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6</a:t>
                      </a:r>
                      <a:endParaRPr lang="en-US" sz="1500" dirty="0">
                        <a:latin typeface="DM Sans" charset="0"/>
                        <a:ea typeface="DM Sans" charset="0"/>
                        <a:cs typeface="DM Sans" charset="0"/>
                      </a:endParaRPr>
                    </a:p>
                  </a:txBody>
                  <a:tcPr marL="66675" marR="66675" marT="66675" marB="66675">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205 KB</a:t>
                      </a:r>
                      <a:endParaRPr lang="en-US" sz="1500" dirty="0">
                        <a:latin typeface="DM Sans" charset="0"/>
                        <a:ea typeface="DM Sans" charset="0"/>
                        <a:cs typeface="DM Sans" charset="0"/>
                      </a:endParaRPr>
                    </a:p>
                  </a:txBody>
                  <a:tcPr marL="66675" marR="66675" marT="66675" marB="66675">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k = 16</a:t>
                      </a:r>
                      <a:endParaRPr lang="en-US" sz="1500" dirty="0">
                        <a:latin typeface="DM Sans" charset="0"/>
                        <a:ea typeface="DM Sans" charset="0"/>
                        <a:cs typeface="DM Sans" charset="0"/>
                      </a:endParaRPr>
                    </a:p>
                  </a:txBody>
                  <a:tcPr marL="66675" marR="66675" marT="66675" marB="66675">
                    <a:lnL w="0" cap="flat" cmpd="sng" algn="ctr">
                      <a:noFill/>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4</a:t>
                      </a:r>
                      <a:endParaRPr lang="en-US" sz="1500" dirty="0">
                        <a:latin typeface="DM Sans" charset="0"/>
                        <a:ea typeface="DM Sans" charset="0"/>
                        <a:cs typeface="DM Sans" charset="0"/>
                      </a:endParaRPr>
                    </a:p>
                  </a:txBody>
                  <a:tcPr marL="66675" marR="66675" marT="66675" marB="66675">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137 KB</a:t>
                      </a:r>
                      <a:endParaRPr lang="en-US" sz="1500" dirty="0">
                        <a:latin typeface="DM Sans" charset="0"/>
                        <a:ea typeface="DM Sans" charset="0"/>
                        <a:cs typeface="DM Sans" charset="0"/>
                      </a:endParaRPr>
                    </a:p>
                  </a:txBody>
                  <a:tcPr marL="66675" marR="66675" marT="66675" marB="66675">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k = 8</a:t>
                      </a:r>
                      <a:endParaRPr lang="en-US" sz="1500" dirty="0">
                        <a:latin typeface="DM Sans" charset="0"/>
                        <a:ea typeface="DM Sans" charset="0"/>
                        <a:cs typeface="DM Sans" charset="0"/>
                      </a:endParaRPr>
                    </a:p>
                  </a:txBody>
                  <a:tcPr marL="66675" marR="66675" marT="66675" marB="66675">
                    <a:lnL w="0" cap="flat" cmpd="sng" algn="ctr">
                      <a:noFill/>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3</a:t>
                      </a:r>
                      <a:endParaRPr lang="en-US" sz="1500" dirty="0">
                        <a:latin typeface="DM Sans" charset="0"/>
                        <a:ea typeface="DM Sans" charset="0"/>
                        <a:cs typeface="DM Sans" charset="0"/>
                      </a:endParaRPr>
                    </a:p>
                  </a:txBody>
                  <a:tcPr marL="66675" marR="66675" marT="66675" marB="66675">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103 KB</a:t>
                      </a:r>
                      <a:endParaRPr lang="en-US" sz="1500" dirty="0">
                        <a:latin typeface="DM Sans" charset="0"/>
                        <a:ea typeface="DM Sans" charset="0"/>
                        <a:cs typeface="DM Sans" charset="0"/>
                      </a:endParaRPr>
                    </a:p>
                  </a:txBody>
                  <a:tcPr marL="66675" marR="66675" marT="66675" marB="66675">
                    <a:lnL w="12700" cap="flat" cmpd="sng" algn="ctr">
                      <a:solidFill>
                        <a:srgbClr val="C5C3BF"/>
                      </a:solidFill>
                      <a:prstDash val="solid"/>
                      <a:round/>
                      <a:headEnd type="none" w="med" len="med"/>
                      <a:tailEnd type="none" w="med" len="med"/>
                    </a:lnL>
                    <a:lnR w="12700" cap="flat" cmpd="sng" algn="ctr">
                      <a:solidFill>
                        <a:srgbClr val="C5C3BF"/>
                      </a:solidFill>
                      <a:prstDash val="solid"/>
                      <a:round/>
                      <a:headEnd type="none" w="med" len="med"/>
                      <a:tailEnd type="none" w="med" len="med"/>
                    </a:lnR>
                    <a:lnT w="12700" cap="flat" cmpd="sng" algn="ctr">
                      <a:solidFill>
                        <a:srgbClr val="CBCBC9"/>
                      </a:solidFill>
                      <a:prstDash val="solid"/>
                      <a:round/>
                      <a:headEnd type="none" w="med" len="med"/>
                      <a:tailEnd type="none" w="med" len="med"/>
                    </a:lnT>
                    <a:lnB w="12700" cap="flat" cmpd="sng" algn="ctr">
                      <a:solidFill>
                        <a:srgbClr val="C5C3BF"/>
                      </a:solidFill>
                      <a:prstDash val="solid"/>
                      <a:round/>
                      <a:headEnd type="none" w="med" len="med"/>
                      <a:tailEnd type="none" w="med" len="med"/>
                    </a:lnB>
                    <a:solidFill>
                      <a:srgbClr val="F7F4EF"/>
                    </a:solidFill>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k = 2</a:t>
                      </a:r>
                      <a:endParaRPr lang="en-US" sz="1500" dirty="0">
                        <a:latin typeface="DM Sans" charset="0"/>
                        <a:ea typeface="DM Sans" charset="0"/>
                        <a:cs typeface="DM Sans" charset="0"/>
                      </a:endParaRPr>
                    </a:p>
                  </a:txBody>
                  <a:tcPr marL="66675" marR="66675" marT="66675" marB="66675">
                    <a:lnL w="0" cap="flat" cmpd="sng" algn="ctr">
                      <a:noFill/>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1</a:t>
                      </a:r>
                      <a:endParaRPr lang="en-US" sz="1500" dirty="0">
                        <a:latin typeface="DM Sans" charset="0"/>
                        <a:ea typeface="DM Sans" charset="0"/>
                        <a:cs typeface="DM Sans" charset="0"/>
                      </a:endParaRPr>
                    </a:p>
                  </a:txBody>
                  <a:tcPr marL="66675" marR="66675" marT="66675" marB="66675">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tc>
                  <a:txBody>
                    <a:bodyPr/>
                    <a:lstStyle/>
                    <a:p>
                      <a:pPr marL="0" indent="0">
                        <a:lnSpc>
                          <a:spcPts val="2100"/>
                        </a:lnSpc>
                        <a:buNone/>
                      </a:pPr>
                      <a:r>
                        <a:rPr lang="en-US" sz="1500" dirty="0">
                          <a:solidFill>
                            <a:srgbClr val="1D1C21"/>
                          </a:solidFill>
                          <a:latin typeface="DM Sans" pitchFamily="34" charset="0"/>
                          <a:ea typeface="DM Sans" pitchFamily="34" charset="-122"/>
                          <a:cs typeface="DM Sans" pitchFamily="34" charset="-120"/>
                        </a:rPr>
                        <a:t>34 KB</a:t>
                      </a:r>
                      <a:endParaRPr lang="en-US" sz="1500" dirty="0">
                        <a:latin typeface="DM Sans" charset="0"/>
                        <a:ea typeface="DM Sans" charset="0"/>
                        <a:cs typeface="DM Sans" charset="0"/>
                      </a:endParaRPr>
                    </a:p>
                  </a:txBody>
                  <a:tcPr marL="66675" marR="66675" marT="66675" marB="66675">
                    <a:lnL w="12700" cap="flat" cmpd="sng" algn="ctr">
                      <a:solidFill>
                        <a:srgbClr val="CBCBC9"/>
                      </a:solidFill>
                      <a:prstDash val="solid"/>
                      <a:round/>
                      <a:headEnd type="none" w="med" len="med"/>
                      <a:tailEnd type="none" w="med" len="med"/>
                    </a:lnL>
                    <a:lnR w="12700" cap="flat" cmpd="sng" algn="ctr">
                      <a:solidFill>
                        <a:srgbClr val="CBCBC9"/>
                      </a:solidFill>
                      <a:prstDash val="solid"/>
                      <a:round/>
                      <a:headEnd type="none" w="med" len="med"/>
                      <a:tailEnd type="none" w="med" len="med"/>
                    </a:lnR>
                    <a:lnT w="12700" cap="flat" cmpd="sng" algn="ctr">
                      <a:solidFill>
                        <a:srgbClr val="C5C3BF"/>
                      </a:solidFill>
                      <a:prstDash val="solid"/>
                      <a:round/>
                      <a:headEnd type="none" w="med" len="med"/>
                      <a:tailEnd type="none" w="med" len="med"/>
                    </a:lnT>
                    <a:lnB w="12700" cap="flat" cmpd="sng" algn="ctr">
                      <a:solidFill>
                        <a:srgbClr val="CBCBC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6756400" y="1803338"/>
            <a:ext cx="4761484" cy="523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Normally each pixel stores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24 bits</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8 each for red, green and blue.</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0" name="Text 7"/>
          <p:cNvSpPr/>
          <p:nvPr/>
        </p:nvSpPr>
        <p:spPr>
          <a:xfrm>
            <a:off x="6756400" y="2440849"/>
            <a:ext cx="4761484" cy="7721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With 8 colours, each pixel only stores </a:t>
            </a:r>
            <a:r>
              <a:rPr kumimoji="0" lang="en-US" sz="14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which</a:t>
            </a: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 of the 8 it uses. That needs 3 bits (2 × 2 × 2 = 8), plus a tiny table of the 8 colours.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1" name="Text 8"/>
          <p:cNvSpPr/>
          <p:nvPr/>
        </p:nvSpPr>
        <p:spPr>
          <a:xfrm>
            <a:off x="6756400" y="3327270"/>
            <a:ext cx="4622800" cy="477507"/>
          </a:xfrm>
          <a:prstGeom prst="roundRect">
            <a:avLst>
              <a:gd name="adj" fmla="val 13298"/>
            </a:avLst>
          </a:prstGeom>
          <a:solidFill>
            <a:srgbClr val="F1EDE7"/>
          </a:solidFill>
          <a:ln/>
        </p:spPr>
        <p:txBody>
          <a:bodyPr wrap="square" lIns="121101" tIns="95701" rIns="0" bIns="70301"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GIF images use this idea, with up to 256 colours.</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C8102E"/>
          </a:solidFill>
          <a:ln/>
        </p:spPr>
        <p:txBody>
          <a:bodyPr/>
          <a:lstStyle/>
          <a:p>
            <a:endParaRPr lang="en-GB"/>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C8102E"/>
                </a:solidFill>
                <a:effectLst/>
                <a:uLnTx/>
                <a:uFillTx/>
                <a:latin typeface="DM Sans" pitchFamily="34" charset="0"/>
                <a:ea typeface="DM Sans" pitchFamily="34" charset="-122"/>
                <a:cs typeface="DM Sans" pitchFamily="34" charset="-120"/>
              </a:rPr>
              <a:t>SUMMARY</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
        <p:nvSpPr>
          <p:cNvPr id="4" name="Text 2"/>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D1C21"/>
                </a:solidFill>
                <a:latin typeface="DM Sans" pitchFamily="34" charset="0"/>
                <a:ea typeface="DM Sans" pitchFamily="34" charset="-122"/>
                <a:cs typeface="DM Sans" pitchFamily="34" charset="-120"/>
              </a:rPr>
              <a:t>What the photo shows about clustering</a:t>
            </a:r>
            <a:endParaRPr lang="en-US" sz="3200" dirty="0"/>
          </a:p>
        </p:txBody>
      </p:sp>
      <p:sp>
        <p:nvSpPr>
          <p:cNvPr id="5" name="Shape 3"/>
          <p:cNvSpPr/>
          <p:nvPr/>
        </p:nvSpPr>
        <p:spPr>
          <a:xfrm>
            <a:off x="815975" y="1806513"/>
            <a:ext cx="5200650" cy="1195784"/>
          </a:xfrm>
          <a:prstGeom prst="roundRect">
            <a:avLst>
              <a:gd name="adj" fmla="val 6107"/>
            </a:avLst>
          </a:prstGeom>
          <a:solidFill>
            <a:srgbClr val="FFFEFC"/>
          </a:solidFill>
          <a:ln w="6350">
            <a:solidFill>
              <a:srgbClr val="E4DED6"/>
            </a:solidFill>
            <a:prstDash val="solid"/>
          </a:ln>
        </p:spPr>
        <p:txBody>
          <a:bodyPr/>
          <a:lstStyle/>
          <a:p>
            <a:endParaRPr lang="en-GB"/>
          </a:p>
        </p:txBody>
      </p:sp>
      <p:sp>
        <p:nvSpPr>
          <p:cNvPr id="6" name="Text 4"/>
          <p:cNvSpPr/>
          <p:nvPr/>
        </p:nvSpPr>
        <p:spPr>
          <a:xfrm>
            <a:off x="1020233" y="2010767"/>
            <a:ext cx="4935897"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Data points and features</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7" name="Text 5"/>
          <p:cNvSpPr/>
          <p:nvPr/>
        </p:nvSpPr>
        <p:spPr>
          <a:xfrm>
            <a:off x="1020233" y="2318085"/>
            <a:ext cx="4935897" cy="26537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Each pixel is a point; red, green and blue are its features.</a:t>
            </a:r>
            <a:endParaRPr kumimoji="0" lang="en-US" sz="1350" b="0" i="0" u="none" strike="noStrike" kern="1200" cap="none" spc="0" normalizeH="0" baseline="0" noProof="0" dirty="0">
              <a:ln>
                <a:noFill/>
              </a:ln>
              <a:solidFill>
                <a:srgbClr val="1D1C21"/>
              </a:solidFill>
              <a:effectLst/>
              <a:uLnTx/>
              <a:uFillTx/>
              <a:latin typeface="DM Sans"/>
              <a:ea typeface="+mn-ea"/>
              <a:cs typeface="+mn-cs"/>
            </a:endParaRPr>
          </a:p>
        </p:txBody>
      </p:sp>
      <p:sp>
        <p:nvSpPr>
          <p:cNvPr id="8" name="Shape 6"/>
          <p:cNvSpPr/>
          <p:nvPr/>
        </p:nvSpPr>
        <p:spPr>
          <a:xfrm>
            <a:off x="6175375" y="1806513"/>
            <a:ext cx="5200650" cy="1195784"/>
          </a:xfrm>
          <a:prstGeom prst="roundRect">
            <a:avLst>
              <a:gd name="adj" fmla="val 6107"/>
            </a:avLst>
          </a:prstGeom>
          <a:solidFill>
            <a:srgbClr val="FFFEFC"/>
          </a:solidFill>
          <a:ln w="6350">
            <a:solidFill>
              <a:srgbClr val="E4DED6"/>
            </a:solidFill>
            <a:prstDash val="solid"/>
          </a:ln>
        </p:spPr>
        <p:txBody>
          <a:bodyPr/>
          <a:lstStyle/>
          <a:p>
            <a:endParaRPr lang="en-GB"/>
          </a:p>
        </p:txBody>
      </p:sp>
      <p:sp>
        <p:nvSpPr>
          <p:cNvPr id="9" name="Text 7"/>
          <p:cNvSpPr/>
          <p:nvPr/>
        </p:nvSpPr>
        <p:spPr>
          <a:xfrm>
            <a:off x="6379633" y="2010767"/>
            <a:ext cx="4935897"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Centres summarise clusters</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0" name="Text 8"/>
          <p:cNvSpPr/>
          <p:nvPr/>
        </p:nvSpPr>
        <p:spPr>
          <a:xfrm>
            <a:off x="6379633" y="2318085"/>
            <a:ext cx="4935897" cy="50535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Each centre is an average colour that stands in for all its pixels.</a:t>
            </a:r>
            <a:endParaRPr kumimoji="0" lang="en-US" sz="1350" b="0" i="0" u="none" strike="noStrike" kern="1200" cap="none" spc="0" normalizeH="0" baseline="0" noProof="0" dirty="0">
              <a:ln>
                <a:noFill/>
              </a:ln>
              <a:solidFill>
                <a:srgbClr val="1D1C21"/>
              </a:solidFill>
              <a:effectLst/>
              <a:uLnTx/>
              <a:uFillTx/>
              <a:latin typeface="DM Sans"/>
              <a:ea typeface="+mn-ea"/>
              <a:cs typeface="+mn-cs"/>
            </a:endParaRPr>
          </a:p>
        </p:txBody>
      </p:sp>
      <p:sp>
        <p:nvSpPr>
          <p:cNvPr id="11" name="Shape 9"/>
          <p:cNvSpPr/>
          <p:nvPr/>
        </p:nvSpPr>
        <p:spPr>
          <a:xfrm>
            <a:off x="815975" y="3161047"/>
            <a:ext cx="5200650" cy="1195784"/>
          </a:xfrm>
          <a:prstGeom prst="roundRect">
            <a:avLst>
              <a:gd name="adj" fmla="val 6107"/>
            </a:avLst>
          </a:prstGeom>
          <a:solidFill>
            <a:srgbClr val="FFFEFC"/>
          </a:solidFill>
          <a:ln w="6350">
            <a:solidFill>
              <a:srgbClr val="E4DED6"/>
            </a:solidFill>
            <a:prstDash val="solid"/>
          </a:ln>
        </p:spPr>
        <p:txBody>
          <a:bodyPr/>
          <a:lstStyle/>
          <a:p>
            <a:endParaRPr lang="en-GB"/>
          </a:p>
        </p:txBody>
      </p:sp>
      <p:sp>
        <p:nvSpPr>
          <p:cNvPr id="12" name="Text 10"/>
          <p:cNvSpPr/>
          <p:nvPr/>
        </p:nvSpPr>
        <p:spPr>
          <a:xfrm>
            <a:off x="1020233" y="3365302"/>
            <a:ext cx="4935897"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Big groups win</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3" name="Text 11"/>
          <p:cNvSpPr/>
          <p:nvPr/>
        </p:nvSpPr>
        <p:spPr>
          <a:xfrm>
            <a:off x="1020233" y="3672619"/>
            <a:ext cx="4935897" cy="50535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K-means minimises the total, so small groups like the red pillars can be lost.</a:t>
            </a:r>
            <a:endParaRPr kumimoji="0" lang="en-US" sz="1350" b="0" i="0" u="none" strike="noStrike" kern="1200" cap="none" spc="0" normalizeH="0" baseline="0" noProof="0" dirty="0">
              <a:ln>
                <a:noFill/>
              </a:ln>
              <a:solidFill>
                <a:srgbClr val="1D1C21"/>
              </a:solidFill>
              <a:effectLst/>
              <a:uLnTx/>
              <a:uFillTx/>
              <a:latin typeface="DM Sans"/>
              <a:ea typeface="+mn-ea"/>
              <a:cs typeface="+mn-cs"/>
            </a:endParaRPr>
          </a:p>
        </p:txBody>
      </p:sp>
      <p:sp>
        <p:nvSpPr>
          <p:cNvPr id="14" name="Shape 12"/>
          <p:cNvSpPr/>
          <p:nvPr/>
        </p:nvSpPr>
        <p:spPr>
          <a:xfrm>
            <a:off x="6175375" y="3161047"/>
            <a:ext cx="5200650" cy="1195784"/>
          </a:xfrm>
          <a:prstGeom prst="roundRect">
            <a:avLst>
              <a:gd name="adj" fmla="val 6107"/>
            </a:avLst>
          </a:prstGeom>
          <a:solidFill>
            <a:srgbClr val="FFFEFC"/>
          </a:solidFill>
          <a:ln w="6350">
            <a:solidFill>
              <a:srgbClr val="E4DED6"/>
            </a:solidFill>
            <a:prstDash val="solid"/>
          </a:ln>
        </p:spPr>
        <p:txBody>
          <a:bodyPr/>
          <a:lstStyle/>
          <a:p>
            <a:endParaRPr lang="en-GB"/>
          </a:p>
        </p:txBody>
      </p:sp>
      <p:sp>
        <p:nvSpPr>
          <p:cNvPr id="15" name="Text 13"/>
          <p:cNvSpPr/>
          <p:nvPr/>
        </p:nvSpPr>
        <p:spPr>
          <a:xfrm>
            <a:off x="6379633" y="3365302"/>
            <a:ext cx="4935897"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C21"/>
                </a:solidFill>
                <a:effectLst/>
                <a:uLnTx/>
                <a:uFillTx/>
                <a:latin typeface="DM Sans" pitchFamily="34" charset="0"/>
                <a:ea typeface="DM Sans" pitchFamily="34" charset="-122"/>
                <a:cs typeface="DM Sans" pitchFamily="34" charset="-120"/>
              </a:rPr>
              <a:t>We choose k</a:t>
            </a:r>
            <a:endParaRPr kumimoji="0" lang="en-US" sz="1600" b="0" i="0" u="none" strike="noStrike" kern="1200" cap="none" spc="0" normalizeH="0" baseline="0" noProof="0" dirty="0">
              <a:ln>
                <a:noFill/>
              </a:ln>
              <a:solidFill>
                <a:srgbClr val="1D1C21"/>
              </a:solidFill>
              <a:effectLst/>
              <a:uLnTx/>
              <a:uFillTx/>
              <a:latin typeface="DM Sans"/>
              <a:ea typeface="+mn-ea"/>
              <a:cs typeface="+mn-cs"/>
            </a:endParaRPr>
          </a:p>
        </p:txBody>
      </p:sp>
      <p:sp>
        <p:nvSpPr>
          <p:cNvPr id="16" name="Text 14"/>
          <p:cNvSpPr/>
          <p:nvPr/>
        </p:nvSpPr>
        <p:spPr>
          <a:xfrm>
            <a:off x="6379633" y="3672619"/>
            <a:ext cx="4993217" cy="26537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4A474F"/>
                </a:solidFill>
                <a:effectLst/>
                <a:uLnTx/>
                <a:uFillTx/>
                <a:latin typeface="DM Sans" pitchFamily="34" charset="0"/>
                <a:ea typeface="DM Sans" pitchFamily="34" charset="-122"/>
                <a:cs typeface="DM Sans" pitchFamily="34" charset="-120"/>
              </a:rPr>
              <a:t>A trade-off between detail and simplicity: 8 colours or 64?</a:t>
            </a:r>
            <a:endParaRPr kumimoji="0" lang="en-US" sz="1350" b="0" i="0" u="none" strike="noStrike" kern="1200" cap="none" spc="0" normalizeH="0" baseline="0" noProof="0" dirty="0">
              <a:ln>
                <a:noFill/>
              </a:ln>
              <a:solidFill>
                <a:srgbClr val="1D1C21"/>
              </a:solidFill>
              <a:effectLst/>
              <a:uLnTx/>
              <a:uFillTx/>
              <a:latin typeface="DM Sans"/>
              <a:ea typeface="+mn-ea"/>
              <a:cs typeface="+mn-cs"/>
            </a:endParaRPr>
          </a:p>
        </p:txBody>
      </p:sp>
      <p:sp>
        <p:nvSpPr>
          <p:cNvPr id="17" name="Shape 15"/>
          <p:cNvSpPr/>
          <p:nvPr/>
        </p:nvSpPr>
        <p:spPr>
          <a:xfrm>
            <a:off x="812800" y="4614007"/>
            <a:ext cx="10566400" cy="584200"/>
          </a:xfrm>
          <a:prstGeom prst="roundRect">
            <a:avLst>
              <a:gd name="adj" fmla="val 13043"/>
            </a:avLst>
          </a:prstGeom>
          <a:solidFill>
            <a:srgbClr val="1D1C21"/>
          </a:solidFill>
          <a:ln/>
        </p:spPr>
        <p:txBody>
          <a:bodyPr/>
          <a:lstStyle/>
          <a:p>
            <a:endParaRPr lang="en-GB"/>
          </a:p>
        </p:txBody>
      </p:sp>
      <p:pic>
        <p:nvPicPr>
          <p:cNvPr id="18" name="Image 0" descr="Lightbulb"/>
          <p:cNvPicPr>
            <a:picLocks noChangeAspect="1"/>
          </p:cNvPicPr>
          <p:nvPr/>
        </p:nvPicPr>
        <p:blipFill>
          <a:blip r:embed="rId3"/>
          <a:srcRect/>
          <a:stretch/>
        </p:blipFill>
        <p:spPr>
          <a:xfrm>
            <a:off x="1041400" y="4766407"/>
            <a:ext cx="279400" cy="279400"/>
          </a:xfrm>
          <a:prstGeom prst="rect">
            <a:avLst/>
          </a:prstGeom>
        </p:spPr>
      </p:pic>
      <p:sp>
        <p:nvSpPr>
          <p:cNvPr id="19" name="Text 16"/>
          <p:cNvSpPr/>
          <p:nvPr/>
        </p:nvSpPr>
        <p:spPr>
          <a:xfrm>
            <a:off x="1447800" y="4781618"/>
            <a:ext cx="8420735" cy="27430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4F1EC"/>
                </a:solidFill>
                <a:effectLst/>
                <a:uLnTx/>
                <a:uFillTx/>
                <a:latin typeface="DM Sans" pitchFamily="34" charset="0"/>
                <a:ea typeface="DM Sans" pitchFamily="34" charset="-122"/>
                <a:cs typeface="DM Sans" pitchFamily="34" charset="-120"/>
              </a:rPr>
              <a:t>Discussion: what would change if we also gave k-means each pixel's x and y position?</a:t>
            </a:r>
            <a:endParaRPr kumimoji="0" lang="en-US" sz="1400" b="0" i="0" u="none" strike="noStrike" kern="1200" cap="none" spc="0" normalizeH="0" baseline="0" noProof="0" dirty="0">
              <a:ln>
                <a:noFill/>
              </a:ln>
              <a:solidFill>
                <a:srgbClr val="1D1C21"/>
              </a:solidFill>
              <a:effectLst/>
              <a:uLnTx/>
              <a:uFillTx/>
              <a:latin typeface="DM Sans"/>
              <a:ea typeface="+mn-ea"/>
              <a:cs typeface="+mn-cs"/>
            </a:endParaRPr>
          </a:p>
        </p:txBody>
      </p:sp>
      <p:sp>
        <p:nvSpPr>
          <p:cNvPr id="20" name="Text 17"/>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60"/>
                </a:solidFill>
                <a:effectLst/>
                <a:uLnTx/>
                <a:uFillTx/>
                <a:latin typeface="DM Sans" pitchFamily="34" charset="0"/>
                <a:ea typeface="DM Sans" pitchFamily="34" charset="-122"/>
                <a:cs typeface="DM Sans" pitchFamily="34" charset="-120"/>
              </a:rPr>
              <a:t>UWE Bristol · Clustering a photo</a:t>
            </a:r>
            <a:endParaRPr kumimoji="0" lang="en-US" sz="1200" b="0" i="0" u="none" strike="noStrike" kern="1200" cap="none" spc="0" normalizeH="0" baseline="0" noProof="0" dirty="0">
              <a:ln>
                <a:noFill/>
              </a:ln>
              <a:solidFill>
                <a:srgbClr val="1D1C21"/>
              </a:solidFill>
              <a:effectLst/>
              <a:uLnTx/>
              <a:uFillTx/>
              <a:latin typeface="DM Sans"/>
              <a:ea typeface="+mn-ea"/>
              <a:cs typeface="+mn-c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2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2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2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473B6A-CDD0-8E2B-2E25-04674CCBC98A}"/>
              </a:ext>
            </a:extLst>
          </p:cNvPr>
          <p:cNvSpPr/>
          <p:nvPr/>
        </p:nvSpPr>
        <p:spPr>
          <a:xfrm>
            <a:off x="804980" y="478659"/>
            <a:ext cx="4416915" cy="1323439"/>
          </a:xfrm>
          <a:prstGeom prst="rect">
            <a:avLst/>
          </a:prstGeom>
          <a:noFill/>
        </p:spPr>
        <p:txBody>
          <a:bodyPr wrap="none" lIns="91440" tIns="45720" rIns="91440" bIns="45720">
            <a:spAutoFit/>
          </a:bodyPr>
          <a:lstStyle/>
          <a:p>
            <a:pPr algn="ctr"/>
            <a:r>
              <a:rPr lang="en-US" sz="8000" b="1" dirty="0">
                <a:ln w="22225">
                  <a:solidFill>
                    <a:schemeClr val="accent2"/>
                  </a:solidFill>
                  <a:prstDash val="solid"/>
                </a:ln>
                <a:solidFill>
                  <a:schemeClr val="accent2">
                    <a:lumMod val="40000"/>
                    <a:lumOff val="60000"/>
                  </a:schemeClr>
                </a:solidFill>
              </a:rPr>
              <a:t>Notebook</a:t>
            </a:r>
            <a:endParaRPr lang="en-US" sz="80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420451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lustering the Colours of a Photo">
  <a:themeElements>
    <a:clrScheme name="Clustering the Colours of a Photo">
      <a:dk1>
        <a:srgbClr val="1D1C21"/>
      </a:dk1>
      <a:lt1>
        <a:srgbClr val="FAF8F5"/>
      </a:lt1>
      <a:dk2>
        <a:srgbClr val="545356"/>
      </a:dk2>
      <a:lt2>
        <a:srgbClr val="E4E2E0"/>
      </a:lt2>
      <a:accent1>
        <a:srgbClr val="C8102E"/>
      </a:accent1>
      <a:accent2>
        <a:srgbClr val="CB926B"/>
      </a:accent2>
      <a:accent3>
        <a:srgbClr val="FF6B78"/>
      </a:accent3>
      <a:accent4>
        <a:srgbClr val="8FB4D9"/>
      </a:accent4>
      <a:accent5>
        <a:srgbClr val="D74B18"/>
      </a:accent5>
      <a:accent6>
        <a:srgbClr val="90A12F"/>
      </a:accent6>
      <a:hlink>
        <a:srgbClr val="0563C1"/>
      </a:hlink>
      <a:folHlink>
        <a:srgbClr val="954F72"/>
      </a:folHlink>
    </a:clrScheme>
    <a:fontScheme name="Clustering the Colours of a Photo">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34c2f18-0a4b-4d8a-b4bf-c581a68c3ae5}" enabled="1" method="Privileged" siteId="{07ef1208-413c-4b5e-9cdd-64ef305754f0}" contentBits="0" removed="0"/>
</clbl:labelList>
</file>

<file path=docProps/app.xml><?xml version="1.0" encoding="utf-8"?>
<Properties xmlns="http://schemas.openxmlformats.org/officeDocument/2006/extended-properties" xmlns:vt="http://schemas.openxmlformats.org/officeDocument/2006/docPropsVTypes">
  <TotalTime>265</TotalTime>
  <Words>1510</Words>
  <Application>Microsoft Office PowerPoint</Application>
  <PresentationFormat>Widescreen</PresentationFormat>
  <Paragraphs>240</Paragraphs>
  <Slides>88</Slides>
  <Notes>81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88</vt:i4>
      </vt:variant>
    </vt:vector>
  </HeadingPairs>
  <TitlesOfParts>
    <vt:vector size="95" baseType="lpstr">
      <vt:lpstr>Aptos</vt:lpstr>
      <vt:lpstr>Arial</vt:lpstr>
      <vt:lpstr>Calibri</vt:lpstr>
      <vt:lpstr>DM Sans</vt:lpstr>
      <vt:lpstr>JetBrains Mono</vt:lpstr>
      <vt:lpstr>Office Theme</vt:lpstr>
      <vt:lpstr>Clustering the Colours of a Photo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Clustering the colours of a photo</vt:lpstr>
      <vt:lpstr>A photo is a table of numbers</vt:lpstr>
      <vt:lpstr>Every pixel becomes a point in a colour cube</vt:lpstr>
      <vt:lpstr>K-means splits the cube into 8 groups</vt:lpstr>
      <vt:lpstr>Every pixel takes its centre's colour</vt:lpstr>
      <vt:lpstr>96,615 colours down to 8</vt:lpstr>
      <vt:lpstr>Centres go where most of the pixels are</vt:lpstr>
      <vt:lpstr>More clusters, more detail</vt:lpstr>
      <vt:lpstr>Fewer colours means smaller images</vt:lpstr>
      <vt:lpstr>What the photo shows about clustering</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Ryan Fellows</dc:creator>
  <cp:keywords/>
  <dc:description>generated using python-pptx</dc:description>
  <cp:lastModifiedBy>Ryan Fellows</cp:lastModifiedBy>
  <cp:revision>6</cp:revision>
  <dcterms:created xsi:type="dcterms:W3CDTF">2013-01-27T09:14:16Z</dcterms:created>
  <dcterms:modified xsi:type="dcterms:W3CDTF">2026-10-02T10:13:03Z</dcterms:modified>
  <cp:category/>
</cp:coreProperties>
</file>